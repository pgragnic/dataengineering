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777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UC 28 · HACKATHON CAPGEMINI × ANTHROPIC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Inspection Augmentée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0F0"/>
                </a:solidFill>
              </a:rPr>
              <a:t>Parcours utilisateur — La journée de Marc Lefèvre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4572000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i="0">
                <a:solidFill>
                  <a:srgbClr val="FFFFFF"/>
                </a:solidFill>
              </a:rPr>
              <a:t>"Il est 21 heures.</a:t>
            </a:r>
          </a:p>
          <a:p>
            <a:pPr>
              <a:spcBef>
                <a:spcPts val="200"/>
              </a:spcBef>
            </a:pPr>
            <a:r>
              <a:rPr sz="1500" i="0">
                <a:solidFill>
                  <a:srgbClr val="FFFFFF"/>
                </a:solidFill>
              </a:rPr>
              <a:t> Marc a terminé son audit à 16 heures.</a:t>
            </a:r>
          </a:p>
          <a:p>
            <a:pPr>
              <a:spcBef>
                <a:spcPts val="200"/>
              </a:spcBef>
            </a:pPr>
            <a:r>
              <a:rPr sz="1500" i="0">
                <a:solidFill>
                  <a:srgbClr val="FFFFFF"/>
                </a:solidFill>
              </a:rPr>
              <a:t> Et il est encore devant son écran."</a:t>
            </a:r>
          </a:p>
          <a:p>
            <a:pPr>
              <a:spcBef>
                <a:spcPts val="200"/>
              </a:spcBef>
            </a:pPr>
            <a:r>
              <a:rPr sz="1000" i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i="1">
                <a:solidFill>
                  <a:srgbClr val="00B0F0"/>
                </a:solidFill>
              </a:rPr>
              <a:t>Nous, on a inversé ce ratio.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D8B"/>
                </a:solidFill>
              </a:rPr>
              <a:t>Équipe Code Resonance — Philippe Gragnic · Habib Koffi · Véronique Poilane Zhang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7D8B"/>
                </a:solidFill>
              </a:rPr>
              <a:t>⏱  8 minutes · 3 actes + épilogue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Le problème — Cinq douleurs, une seule journée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Bureau Veritas · Auditeurs ISO 9001 · Marc Lefèvre, 23 ans de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194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2194560" cy="41148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9164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B"/>
                </a:solidFill>
              </a:rPr>
              <a:t>Expertise rare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Savoir-faire sénior difficile
à transmettre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Part avec l'auditeur
à la retraite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2" y="1188720"/>
            <a:ext cx="2194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1188720"/>
            <a:ext cx="2194560" cy="411480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69164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B"/>
                </a:solidFill>
              </a:rPr>
              <a:t>Préparation longue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Hétérogène d'un
auditeur à l'autre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Sources multiples,
pas de standard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1188720"/>
            <a:ext cx="2194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1188720"/>
            <a:ext cx="2194560" cy="41148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169164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B"/>
                </a:solidFill>
              </a:rPr>
              <a:t>Historique ignoré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NC passées jamais
recroisées sur terrain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Récidives non
détectées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1188720"/>
            <a:ext cx="2194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7496" y="1188720"/>
            <a:ext cx="2194560" cy="411480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4" y="169164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B"/>
                </a:solidFill>
              </a:rPr>
              <a:t>Constats subjectifs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Formulation variable,
pas de référentiel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Clause ISO citée
de mémoire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56648" y="1188720"/>
            <a:ext cx="2194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56648" y="1188720"/>
            <a:ext cx="2194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169164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B"/>
                </a:solidFill>
              </a:rPr>
              <a:t>Rédaction chronophage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4 h de rapport
après 8 h d'audit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>•  Soirées sacrifiées,
qualité inégale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03520"/>
            <a:ext cx="11548872" cy="82296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39496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→  Une seule journée de démo pour traiter ces cinq douleurs — avant, pendant, et après l'audit.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La boucle fermée — Une plateforme, deux 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Bureau Veritas achète · RATP &amp; Apave audités · Moteur IA partagé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474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474720" cy="45720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 MARC LEFÈVRE — Auditeur BV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Dashboard : 10 missions planifiées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Brief auto-généré (site + historique)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Check-list ISO adaptée au scope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Capture : micro + photo + analyse IA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Rapport instantané sur site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Transmission rapport → portail RATP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37360"/>
            <a:ext cx="3931920" cy="3200400"/>
          </a:xfrm>
          <a:prstGeom prst="rect">
            <a:avLst/>
          </a:prstGeom>
          <a:solidFill>
            <a:srgbClr val="E3F2FD"/>
          </a:solidFill>
          <a:ln w="952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AD"/>
                </a:solidFill>
              </a:rPr>
              <a:t>MOTEUR IA PARTAGÉ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3172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▸  Claude Opus</a:t>
            </a:r>
            <a:r>
              <a:rPr sz="1000">
                <a:solidFill>
                  <a:srgbClr val="607D8B"/>
                </a:solidFill>
              </a:rPr>
              <a:t>  via GEP Capgemini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▸  RAG ISO 9001:2015</a:t>
            </a:r>
            <a:r>
              <a:rPr sz="1000">
                <a:solidFill>
                  <a:srgbClr val="607D8B"/>
                </a:solidFill>
              </a:rPr>
              <a:t>  sentence-transformers BERT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▸  Analyse constat</a:t>
            </a:r>
            <a:r>
              <a:rPr sz="1000">
                <a:solidFill>
                  <a:srgbClr val="607D8B"/>
                </a:solidFill>
              </a:rPr>
              <a:t>  clause + criticité + actions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▸  Pré-analyse documents</a:t>
            </a:r>
            <a:r>
              <a:rPr sz="1000">
                <a:solidFill>
                  <a:srgbClr val="607D8B"/>
                </a:solidFill>
              </a:rPr>
              <a:t>  fournisseur avant l'audit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▸  Explicabilité</a:t>
            </a:r>
            <a:r>
              <a:rPr sz="1000">
                <a:solidFill>
                  <a:srgbClr val="607D8B"/>
                </a:solidFill>
              </a:rPr>
              <a:t>  extrait verbatim de la norme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▸  Capitalisation</a:t>
            </a:r>
            <a:r>
              <a:rPr sz="1000">
                <a:solidFill>
                  <a:srgbClr val="607D8B"/>
                </a:solidFill>
              </a:rPr>
              <a:t>  feedbacks Confirmer/Corriger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0AD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E5C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E5C"/>
                </a:solidFill>
              </a:rPr>
              <a:t>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188720"/>
            <a:ext cx="3474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188720"/>
            <a:ext cx="3474720" cy="457200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🏢  MEI LIN ZHANG — Qualité RATP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7830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Dépôt de documents (procédures, CR)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Pré-analyse Claude avant l'audit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Alertes ⚠ remontées dans le brief BV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Réception du rapport signé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Badge Bureau Veritas + analyse NC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2E3B"/>
                </a:solidFill>
              </a:rPr>
              <a:t>•  Téléchargement du Word signé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77840"/>
            <a:ext cx="11457432" cy="64008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0F0"/>
                </a:solidFill>
              </a:rPr>
              <a:t>RATP dépose  →  BV audite  →  le rapport revient à RATP  ·  La boucle est complète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Écran 0 —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Deux rôles, une seule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  Marc Lefèvre — Auditeur BV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Profil pré-chargé — aucune saisie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Connexion en un clic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→ ClientList → Dashboard → Brief → Inspection → Rapport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Parcours principal : 8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280160"/>
            <a:ext cx="5029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🏢  Mei Lin Zhang — Qualité RATP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Accès direct au portail fournisseur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Dépose procédures, CR, plans qualité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Reçoit le rapport BV en fin de boucle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A2E3B"/>
                </a:solidFill>
              </a:rPr>
              <a:t>•  Rôle : épilogue — fermer la boucle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10908792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0AD"/>
                </a:solidFill>
              </a:rPr>
              <a:t>ℹ  On suit Marc tout au long de la démo. Mei Lin Zhang revient en Épilogue pour refermer la boucle.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Écran 1 —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La journée de Marc d'un seul regard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AD"/>
                </a:solidFill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08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D8B"/>
                </a:solidFill>
              </a:rPr>
              <a:t>Audits planifiés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71016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E5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D8B"/>
                </a:solidFill>
              </a:rPr>
              <a:t>TERMINÉS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71016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A00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508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D8B"/>
                </a:solidFill>
              </a:rPr>
              <a:t>EN COURS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344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71016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7D8B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508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D8B"/>
                </a:solidFill>
              </a:rPr>
              <a:t>PLANIFIÉS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8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FONCTIONNALITÉS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▸  Trait rouge temps réel  </a:t>
            </a:r>
            <a:r>
              <a:rPr sz="1100">
                <a:solidFill>
                  <a:srgbClr val="607D8B"/>
                </a:solidFill>
              </a:rPr>
              <a:t>Heure courante sur la timeline — où en est Marc ?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▸  Vue Liste + Planning  </a:t>
            </a:r>
            <a:r>
              <a:rPr sz="1100">
                <a:solidFill>
                  <a:srgbClr val="607D8B"/>
                </a:solidFill>
              </a:rPr>
              <a:t>Bascule entre vue cartes et créneaux horodatés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▸  Filtre statuts  </a:t>
            </a:r>
            <a:r>
              <a:rPr sz="1100">
                <a:solidFill>
                  <a:srgbClr val="607D8B"/>
                </a:solidFill>
              </a:rPr>
              <a:t>TERMINÉ / PROCHAIN / PLANIFIÉ — filtrage en un clic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▸  Carte Leaflet + OSRM  </a:t>
            </a:r>
            <a:r>
              <a:rPr sz="1100">
                <a:solidFill>
                  <a:srgbClr val="607D8B"/>
                </a:solidFill>
              </a:rPr>
              <a:t>Itinéraire routier réel, clic → zoom sur le site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▸  Temps de trajet  </a:t>
            </a:r>
            <a:r>
              <a:rPr sz="1100">
                <a:solidFill>
                  <a:srgbClr val="607D8B"/>
                </a:solidFill>
              </a:rPr>
              <a:t>Voiture / TC / Vélo intégrés dans chaque carte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▸  Démarrer l'inspection  </a:t>
            </a:r>
            <a:r>
              <a:rPr sz="1100">
                <a:solidFill>
                  <a:srgbClr val="607D8B"/>
                </a:solidFill>
              </a:rPr>
              <a:t>Bouton vert sur la mission PROCHAIN : Sucy-en-Brie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240280"/>
            <a:ext cx="56692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SCÉNARIO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43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>
                <a:solidFill>
                  <a:srgbClr val="1A2E3B"/>
                </a:solidFill>
              </a:rPr>
              <a:t>1.  Clic sur une carte → carte zoomée sur le site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1A2E3B"/>
                </a:solidFill>
              </a:rPr>
              <a:t>2.  Bascule Planning → voir les créneaux + trajets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1A2E3B"/>
                </a:solidFill>
              </a:rPr>
              <a:t>3.  Filtre PROCHAIN → identifier Sucy-en-Brie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1A2E3B"/>
                </a:solidFill>
              </a:rPr>
              <a:t>4.  Clic Démarrer → lancer le Brief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92040"/>
            <a:ext cx="530352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983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0AD"/>
                </a:solidFill>
              </a:rPr>
              <a:t>Mission cible : Atelier Sucy-en-Brie — Maintenance rames MI09 RER A
§7.1.5 Métrologie · §8.7 Non-conformités · 2 h 30 · PROCHAIN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Écran 1 — Dashboard · La journée de Marc d'un seul regard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64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ÉCRAN →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6" y="713232"/>
            <a:ext cx="959104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1A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10 missions planifiées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Trait rouge temps réel · vue Liste/Planning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118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Carte Leaflet + OSRM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118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Itinéraire routier réel, clic → zoom sur le 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Filtre PROCHAIN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Mission Sucy-en-Brie sélectionnée → Démarrer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Hors-ligne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Zéro clé API — fonctionne même sans réseau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ACTE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Avant l'audit — Le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 2:20 · Marc n'a pas quitté son bureau — son brief est déjà prêt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ACTE I — Brief pré-audit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Avant de quitter son bureau — T 2:20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ACTE I  ·  AVANT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013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CONTEXTE SITE — chargé depuis la base BV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0070AD"/>
                </a:solidFill>
              </a:rPr>
              <a:t>Site : </a:t>
            </a:r>
            <a:r>
              <a:rPr sz="1000">
                <a:solidFill>
                  <a:srgbClr val="1A2E3B"/>
                </a:solidFill>
              </a:rPr>
              <a:t>Atelier Sucy-en-Brie · RATP-SUC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AD"/>
                </a:solidFill>
              </a:rPr>
              <a:t>Périmètre : </a:t>
            </a:r>
            <a:r>
              <a:rPr sz="1000">
                <a:solidFill>
                  <a:srgbClr val="1A2E3B"/>
                </a:solidFill>
              </a:rPr>
              <a:t>Maintenance rames MI09 — RER 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AD"/>
                </a:solidFill>
              </a:rPr>
              <a:t>Effectif : </a:t>
            </a:r>
            <a:r>
              <a:rPr sz="1000">
                <a:solidFill>
                  <a:srgbClr val="1A2E3B"/>
                </a:solidFill>
              </a:rPr>
              <a:t>218 personnes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AD"/>
                </a:solidFill>
              </a:rPr>
              <a:t>Responsable qualité : </a:t>
            </a:r>
            <a:r>
              <a:rPr sz="1000">
                <a:solidFill>
                  <a:srgbClr val="1A2E3B"/>
                </a:solidFill>
              </a:rPr>
              <a:t>Mei Lin Zhang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AD"/>
                </a:solidFill>
              </a:rPr>
              <a:t>Source : </a:t>
            </a:r>
            <a:r>
              <a:rPr sz="1000">
                <a:solidFill>
                  <a:srgbClr val="1A2E3B"/>
                </a:solidFill>
              </a:rPr>
              <a:t>GET /api/sites/RATP-SUC → audit.db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5669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5669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2821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⚠  HISTORIQUE — NC NON CLÔTURÉE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2E3B"/>
                </a:solidFill>
              </a:rPr>
              <a:t>•  Nov. 2024 : NC MAJEURE §7.1.5 — certificats d'étalonnage expirés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2E3B"/>
                </a:solidFill>
              </a:rPr>
              <a:t>•  NC toujours ouverte — jamais clôturée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2E3B"/>
                </a:solidFill>
              </a:rPr>
              <a:t>•  Action corrective : étalonnage COFRAC (non réalisé)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2E3B"/>
                </a:solidFill>
              </a:rPr>
              <a:t>•  → Section S2 pré-flagguée, priorité haute dans la check-list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2E3B"/>
                </a:solidFill>
              </a:rPr>
              <a:t>•  Thèmes récurrents : §7.1.5 + §8.7 → badge 🔁 en inspection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14574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CHECK-LIST AUTO-GÉNÉRÉE — 5 sources combinées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2697480" cy="292608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S1  §7.5  Maîtrise documentaire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8172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générique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343400"/>
            <a:ext cx="269748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43434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S2  §7.1.5  Étalonnage &amp; équipements de mesure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68172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392B"/>
                </a:solidFill>
              </a:rPr>
              <a:t>NC ouverte + récurrence 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343400"/>
            <a:ext cx="2697480" cy="292608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3434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S3  §8.7  Gestion des non-conformités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68172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97A00"/>
                </a:solidFill>
              </a:rPr>
              <a:t>scope + récurrence 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4343400"/>
            <a:ext cx="2697480" cy="292608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43434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S4  §7.2  Compétences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68172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7D8B"/>
                </a:solidFill>
              </a:rPr>
              <a:t>lié à 218 personnes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ACTE I · Brief — Contexte site, historique NC, check-list auto-générée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64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ÉCRAN →</a:t>
            </a:r>
          </a:p>
        </p:txBody>
      </p:sp>
      <p:pic>
        <p:nvPicPr>
          <p:cNvPr id="6" name="Picture 5" descr="02_brief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6" y="713232"/>
            <a:ext cx="959104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1A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Historique branché sur audit.db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NC §7.1.5 ouverte depuis nov. 2024 — jamais clôturée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118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Thèmes récurrents 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118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§7.1.5 + §8.7 → badges dans la check-list d'inspection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4 sections générées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S1 §7.5 · S2 §7.1.5 · S3 §8.7 · S4 §7.2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Douleur ③ traitée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Historique exploité — Marc n'a rien eu à se rappeler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ACTE I — Brief pré-audit (suite)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Scope, documents fournisseur, check-list éditable — Douleurs 1 &amp;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SCOPE DE L'AUDIT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1A2E3B"/>
                </a:solidFill>
              </a:rPr>
              <a:t>✓  Étalonnage &amp; équipements de mesure (§7.1.5)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A2E3B"/>
                </a:solidFill>
              </a:rPr>
              <a:t>✓  Gestion des non-conformités (§8.7)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A2E3B"/>
                </a:solidFill>
              </a:rPr>
              <a:t>✓  Maîtrise documentaire (§7.5)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07D8B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070AD"/>
                </a:solidFill>
              </a:rPr>
              <a:t>+ Ajouter un scope →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A2E3B"/>
                </a:solidFill>
              </a:rPr>
              <a:t>Élargir le périmètre si besoin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3657600" cy="365760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27101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⚠  DOCUMENTS PORTAIL RATP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07E5C"/>
                </a:solidFill>
              </a:rPr>
              <a:t>✓  CR_Audit_nov_2024.docx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607D8B"/>
                </a:solidFill>
              </a:rPr>
              <a:t>     14/11/2024 · §7.1.5 signalé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07E5C"/>
                </a:solidFill>
              </a:rPr>
              <a:t>✓  Procedures_etalonnage_v3.pdf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607D8B"/>
                </a:solidFill>
              </a:rPr>
              <a:t>     v3 · 3 équipements périmés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07E5C"/>
                </a:solidFill>
              </a:rPr>
              <a:t>✓  Plan_qualite_2025.pdf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607D8B"/>
                </a:solidFill>
              </a:rPr>
              <a:t>     Budget étalonnage : non alloué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251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7A00"/>
                </a:solidFill>
              </a:rPr>
              <a:t>⚠  §7.1.5 et §8.7 marqués en alerte
dans la check-list de Marc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CHECK-LIST ÉDITABLE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× sur un item →  </a:t>
            </a:r>
            <a:r>
              <a:rPr sz="1000">
                <a:solidFill>
                  <a:srgbClr val="607D8B"/>
                </a:solidFill>
              </a:rPr>
              <a:t>supprimer un point inutile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× sur une section →  </a:t>
            </a:r>
            <a:r>
              <a:rPr sz="1000">
                <a:solidFill>
                  <a:srgbClr val="607D8B"/>
                </a:solidFill>
              </a:rPr>
              <a:t>exclure une section entière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+ Ajouter un point →  </a:t>
            </a:r>
            <a:r>
              <a:rPr sz="1000">
                <a:solidFill>
                  <a:srgbClr val="607D8B"/>
                </a:solidFill>
              </a:rPr>
              <a:t>créer un point sur mesure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Badge Auditeur  </a:t>
            </a:r>
            <a:r>
              <a:rPr sz="1000">
                <a:solidFill>
                  <a:srgbClr val="607D8B"/>
                </a:solidFill>
              </a:rPr>
              <a:t>le point porte son nom — traçable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E5C"/>
                </a:solidFill>
              </a:rPr>
              <a:t>  </a:t>
            </a:r>
            <a:r>
              <a:rPr sz="1000">
                <a:solidFill>
                  <a:srgbClr val="607D8B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→ Ces ajouts entrent  </a:t>
            </a:r>
            <a:r>
              <a:rPr sz="1000">
                <a:solidFill>
                  <a:srgbClr val="607D8B"/>
                </a:solidFill>
              </a:rPr>
              <a:t>dans le système :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capitalisation  </a:t>
            </a:r>
            <a:r>
              <a:rPr sz="1000">
                <a:solidFill>
                  <a:srgbClr val="607D8B"/>
                </a:solidFill>
              </a:rPr>
              <a:t>de l'expertise BV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989320"/>
            <a:ext cx="11457432" cy="59436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Douleurs traitées :  ① Expertise capitalisée (badge Auditeur)  ·  ② Préparation standardisée (check-list auto-générée)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ACTE I · Brief — Scope, documents RATP, check-list éditable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64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ÉCRAN →</a:t>
            </a:r>
          </a:p>
        </p:txBody>
      </p:sp>
      <p:pic>
        <p:nvPicPr>
          <p:cNvPr id="6" name="Picture 5" descr="03_brief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6" y="713232"/>
            <a:ext cx="959104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1A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Scope de l'audit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3 domaines actifs · §7.1.5 · §8.7 · §7.5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118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⚠ Alertes RATP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118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3 docs pré-analysés par Claude · risques remontés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Check-list éditable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× supprimer un item · + ajouter un point sur mesure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AD"/>
                </a:solidFill>
              </a:rPr>
              <a:t>Douleurs ① 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Expertise capitalisée (badge Auditeur) · Prépa standardisée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ACTE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Pendant l'audit — Le Terrain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 3:30 · Marc est sur site, gants aux mains, devant les équipements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ACTE II — Inspection sur le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Marc est sur site — Gants aux mains, devant les équipements — T 3:30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ACTE II  ·  PENDANT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457432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A00"/>
                </a:solidFill>
              </a:rPr>
              <a:t>🔁  Points récurrents sur ce site : §7.1.5 Étalonnage · §8.7 NC — badges dans la check-list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1. SÉLECTION DU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C0392B"/>
                </a:solidFill>
              </a:rPr>
              <a:t>●  [§7.1.5] Vérification certificats d'étalonnage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607D8B"/>
                </a:solidFill>
              </a:rPr>
              <a:t>○  [§7.1.5] Registre des équipements à jour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607D8B"/>
                </a:solidFill>
              </a:rPr>
              <a:t>○  [§8.7] Traçabilité des NC produits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607D8B"/>
                </a:solidFill>
              </a:rPr>
              <a:t>○  [§8.7] Zone de quarantaine délimitée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24028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2. CAPTURE TERRAIN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7889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>
                <a:solidFill>
                  <a:srgbClr val="1A2E3B"/>
                </a:solidFill>
              </a:rPr>
              <a:t>🎙 Micro  Dicter l'observation à la main libre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A2E3B"/>
                </a:solidFill>
              </a:rPr>
              <a:t>📷 Photo  Capturer la preuve visuelle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A2E3B"/>
                </a:solidFill>
              </a:rPr>
              <a:t>✓/✗ Oui/Non  Répondre aux 3 questions Claude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A2E3B"/>
                </a:solidFill>
              </a:rPr>
              <a:t>⚡ Analyser  Déclencher le diagnostic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251960"/>
            <a:ext cx="35204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3434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D8B"/>
                </a:solidFill>
              </a:rPr>
              <a:t>« Les clés dynamométriques du poste 12
ne sont pas étalonnées.
Certificats périmés depuis 8 mois. 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24028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3. RÉPONSES SUGGÉRÉES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007E5C"/>
                </a:solidFill>
              </a:rPr>
              <a:t>✓ OUI</a:t>
            </a:r>
            <a:r>
              <a:rPr sz="1000">
                <a:solidFill>
                  <a:srgbClr val="1A2E3B"/>
                </a:solidFill>
              </a:rPr>
              <a:t>  Certificats datés &lt; 12 mois ?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C0392B"/>
                </a:solidFill>
              </a:rPr>
              <a:t>✗ NON</a:t>
            </a:r>
            <a:r>
              <a:rPr sz="1000">
                <a:solidFill>
                  <a:srgbClr val="1A2E3B"/>
                </a:solidFill>
              </a:rPr>
              <a:t>  Équipement couvert COFRAC ?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607D8B"/>
                </a:solidFill>
              </a:rPr>
              <a:t>—</a:t>
            </a:r>
            <a:r>
              <a:rPr sz="1000">
                <a:solidFill>
                  <a:srgbClr val="1A2E3B"/>
                </a:solidFill>
              </a:rPr>
              <a:t>  Registre équipements à jour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D8B"/>
                </a:solidFill>
              </a:rPr>
              <a:t>Générées par Claude Opus
(POST /questions_oui_non)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ACTE II · Inspection — Capture terrain, analyse IA, questions oui/non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64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ÉCRAN →</a:t>
            </a:r>
          </a:p>
        </p:txBody>
      </p:sp>
      <p:pic>
        <p:nvPicPr>
          <p:cNvPr id="6" name="Picture 5" descr="04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6" y="713232"/>
            <a:ext cx="959104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1A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5C"/>
                </a:solidFill>
              </a:rPr>
              <a:t>Bannière 🔁 récurrences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§7.1.5 + §8.7 rappelés avant même de commencer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118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5C"/>
                </a:solidFill>
              </a:rPr>
              <a:t>NC MAJEURE §7.1.5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118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Clés dynamométriques non étalonnées · certificats périmés 8 mois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5C"/>
                </a:solidFill>
              </a:rPr>
              <a:t>3 questions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Oui/Non contextualisées · réponses réinjectées dans l'analyse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5C"/>
                </a:solidFill>
              </a:rPr>
              <a:t>Douleurs ③ ④ traitées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Récidive détectée · constat objectif généré par l'IA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ACTE II — Résultat de l'analyse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Non-conformité majeure · Récidive · Capitalisation de l'expertise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685800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930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NC MAJEURE — §7.1.5  Étalonnage et surveillance des équipements de mesure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6492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Constat : </a:t>
            </a:r>
            <a:r>
              <a:rPr sz="1100">
                <a:solidFill>
                  <a:srgbClr val="1A2E3B"/>
                </a:solidFill>
              </a:rPr>
              <a:t>Clés dynamométriques poste 12 non étalonnées. Certificats périmés depuis 8 mois.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Action corrective : </a:t>
            </a:r>
            <a:r>
              <a:rPr sz="1100">
                <a:solidFill>
                  <a:srgbClr val="1A2E3B"/>
                </a:solidFill>
              </a:rPr>
              <a:t>Étalonnage COFRAC immédiat des équipements concernés.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Action préventive : </a:t>
            </a:r>
            <a:r>
              <a:rPr sz="1100">
                <a:solidFill>
                  <a:srgbClr val="1A2E3B"/>
                </a:solidFill>
              </a:rPr>
              <a:t>Mise en place d'un planning automatisé de suivi des certificats.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Délai : </a:t>
            </a:r>
            <a:r>
              <a:rPr sz="1100">
                <a:solidFill>
                  <a:srgbClr val="1A2E3B"/>
                </a:solidFill>
              </a:rPr>
              <a:t>Sous 72 h · Responsable : Mei Lin Zhang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0AD"/>
                </a:solidFill>
              </a:rPr>
              <a:t>Source norme : </a:t>
            </a:r>
            <a:r>
              <a:rPr sz="1100">
                <a:solidFill>
                  <a:srgbClr val="1A2E3B"/>
                </a:solidFill>
              </a:rPr>
              <a:t>ISO 9001:2015 §7.1.5.1 — extrait verbatim au survol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2926080" cy="292608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🔁  RÉCIDIVE — NC déjà signalée en nov.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114800"/>
            <a:ext cx="2011680" cy="29260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114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Claude Opus · GEP Capgemini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234440"/>
            <a:ext cx="4480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CAPITALISATION + ARTICLES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78308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👍 Confirmer  </a:t>
            </a:r>
            <a:r>
              <a:rPr sz="1000">
                <a:solidFill>
                  <a:srgbClr val="607D8B"/>
                </a:solidFill>
              </a:rPr>
              <a:t>Marc valide le diagnostic — il entre dans la base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✏️  Corriger  </a:t>
            </a:r>
            <a:r>
              <a:rPr sz="1000">
                <a:solidFill>
                  <a:srgbClr val="607D8B"/>
                </a:solidFill>
              </a:rPr>
              <a:t>Marc ajuste — sa correction est enregistrée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23 ans  </a:t>
            </a:r>
            <a:r>
              <a:rPr sz="1000">
                <a:solidFill>
                  <a:srgbClr val="607D8B"/>
                </a:solidFill>
              </a:rPr>
              <a:t>d'expertise BV capturés et redistribuables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A2E3B"/>
                </a:solidFill>
              </a:rPr>
              <a:t/>
            </a:r>
            <a:r>
              <a:rPr sz="1000">
                <a:solidFill>
                  <a:srgbClr val="607D8B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Articles ISO  </a:t>
            </a:r>
            <a:r>
              <a:rPr sz="1000">
                <a:solidFill>
                  <a:srgbClr val="607D8B"/>
                </a:solidFill>
              </a:rPr>
              <a:t>Mis à jour au clic sur l'item de check-list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Tooltip RAG  </a:t>
            </a:r>
            <a:r>
              <a:rPr sz="1000">
                <a:solidFill>
                  <a:srgbClr val="607D8B"/>
                </a:solidFill>
              </a:rPr>
              <a:t>Extrait verbatim de la norme au survol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70AD"/>
                </a:solidFill>
              </a:rPr>
              <a:t>Explicabilité  </a:t>
            </a:r>
            <a:r>
              <a:rPr sz="1000">
                <a:solidFill>
                  <a:srgbClr val="607D8B"/>
                </a:solidFill>
              </a:rPr>
              <a:t>Réponse directe à l'exigence CDC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11457432" cy="59436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6460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Douleurs traitées :  ③ Historique exploité (🔁 récidive)  ·  ④ Constats objectifs  ·  ① Expertise capitalisée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77840"/>
            <a:ext cx="1145743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577840"/>
            <a:ext cx="548640" cy="594360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3B"/>
                </a:solidFill>
              </a:rPr>
              <a:t>2ème constat : NC MINEURE §8.7 — Zone de quarantaine non délimitée, pièces NC mélangées aux pièces valides.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ACTE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Après l'audit — Le Rapport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 6:00 · Le rapport est déjà là. Sur place. Pas ce soir — maintenant.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ACTE III — Rapport instantané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Sur site, en temps réel — plus de soirée de rédaction — T 6:00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ACTE III  ·  APRÈS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3749039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SYNTHÈSE DU RAPPORT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4114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500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</a:rPr>
              <a:t>NC MAJEURES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24912"/>
            <a:ext cx="411480" cy="347472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7063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88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</a:rPr>
              <a:t>NC MINEURES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63824"/>
            <a:ext cx="411480" cy="347472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954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27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</a:rPr>
              <a:t>OBSERVATIONS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02736"/>
            <a:ext cx="411480" cy="347472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48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667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</a:rPr>
              <a:t>CONFORMES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GRILLE DE CONFORMITÉ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D8B"/>
                </a:solidFill>
              </a:rPr>
              <a:t>§7.1.5 Étalonnage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562856"/>
            <a:ext cx="1371600" cy="15544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68880" y="4562856"/>
            <a:ext cx="246888" cy="155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5262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D8B"/>
                </a:solidFill>
              </a:rPr>
              <a:t>§8.7 Non-conformités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837176"/>
            <a:ext cx="1371600" cy="15544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4837176"/>
            <a:ext cx="576072" cy="155448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A00"/>
                </a:solidFill>
              </a:rPr>
              <a:t>42%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D8B"/>
                </a:solidFill>
              </a:rPr>
              <a:t>§7.5 Documentation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5111496"/>
            <a:ext cx="1371600" cy="15544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80" y="5111496"/>
            <a:ext cx="1097280" cy="155448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50749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E5C"/>
                </a:solidFill>
              </a:rPr>
              <a:t>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D8B"/>
                </a:solidFill>
              </a:rPr>
              <a:t>§7.2 Compétences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5385816"/>
            <a:ext cx="1371600" cy="15544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68880" y="5385816"/>
            <a:ext cx="1165860" cy="155448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5349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E5C"/>
                </a:solidFill>
              </a:rPr>
              <a:t>85%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1691640"/>
            <a:ext cx="3840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ACTIONS DISPONIBLES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224028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0070AD"/>
                </a:solidFill>
              </a:rPr>
              <a:t>✏️  Modifier  </a:t>
            </a:r>
            <a:r>
              <a:rPr sz="1000">
                <a:solidFill>
                  <a:srgbClr val="607D8B"/>
                </a:solidFill>
              </a:rPr>
              <a:t>Marc relit et ajuste une formulation — l'IA propose, l'auditeur décide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0AD"/>
                </a:solidFill>
              </a:rPr>
              <a:t>🔒 Anonymiser  </a:t>
            </a:r>
            <a:r>
              <a:rPr sz="1000">
                <a:solidFill>
                  <a:srgbClr val="607D8B"/>
                </a:solidFill>
              </a:rPr>
              <a:t>RGPD — les noms disparaissent de l'aperçu en un clic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0AD"/>
                </a:solidFill>
              </a:rPr>
              <a:t>⬇ Télécharger  </a:t>
            </a:r>
            <a:r>
              <a:rPr sz="1000">
                <a:solidFill>
                  <a:srgbClr val="607D8B"/>
                </a:solidFill>
              </a:rPr>
              <a:t>Export Word (.docx) généré par le backend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0AD"/>
                </a:solidFill>
              </a:rPr>
              <a:t>✍️ Signer  </a:t>
            </a:r>
            <a:r>
              <a:rPr sz="1000">
                <a:solidFill>
                  <a:srgbClr val="607D8B"/>
                </a:solidFill>
              </a:rPr>
              <a:t>Validation contradictoire — signature manuscrite Mei Lin Zhang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0AD"/>
                </a:solidFill>
              </a:rPr>
              <a:t>⬆ Portail RATP  </a:t>
            </a:r>
            <a:r>
              <a:rPr sz="1000">
                <a:solidFill>
                  <a:srgbClr val="607D8B"/>
                </a:solidFill>
              </a:rPr>
              <a:t>Envoi du rapport signé → portail fournisseur RATP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solidFill>
            <a:srgbClr val="E8F5E9"/>
          </a:solidFill>
          <a:ln w="9525">
            <a:solidFill>
              <a:srgbClr val="00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0" y="1691640"/>
            <a:ext cx="3566160" cy="41148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73736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⬆  LE GESTE QUI FERME LA BOUCLE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2402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1A2E3B"/>
                </a:solidFill>
              </a:rPr>
              <a:t>Clic sur « ⬆ Portail RATP »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0070AD"/>
                </a:solidFill>
              </a:rPr>
              <a:t>→ Génère le .docx (backend)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0070AD"/>
                </a:solidFill>
              </a:rPr>
              <a:t>→ Encode en base64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0070AD"/>
                </a:solidFill>
              </a:rPr>
              <a:t>→ Crée un document fromBV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0070AD"/>
                </a:solidFill>
              </a:rPr>
              <a:t>→ Stocke dans localStorage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2E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2E3B"/>
                </a:solidFill>
              </a:rPr>
              <a:t>Le bouton passe à :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3C50"/>
                </a:solidFill>
              </a:rPr>
              <a:t>« ✓ Transmis au portail »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2E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2E3B"/>
                </a:solidFill>
              </a:rPr>
              <a:t>Marc quitte le site.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2E3B"/>
                </a:solidFill>
              </a:rPr>
              <a:t>Le rapport est déjà chez RATP.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532120"/>
            <a:ext cx="11457432" cy="59436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59612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Douleur traitée :  ⑤ Rapport généré sur place — la soirée de rédaction a disparu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ACTE III · Rapport — Synthèse, grille conformité, signature, envoi portail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64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ÉCRAN →</a:t>
            </a:r>
          </a:p>
        </p:txBody>
      </p:sp>
      <p:pic>
        <p:nvPicPr>
          <p:cNvPr id="6" name="Picture 5" descr="05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6" y="713232"/>
            <a:ext cx="959104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1A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C50"/>
                </a:solidFill>
              </a:rPr>
              <a:t>Score 35% — alerte rouge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§7.1.5 à 18% · §8.7 à 42% · barres colorées par seuil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118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C50"/>
                </a:solidFill>
              </a:rPr>
              <a:t>Actions disponibles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118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Modifier · Anonymiser RGPD · Télécharger Word · Signer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C50"/>
                </a:solidFill>
              </a:rPr>
              <a:t>⬆ Portail RATP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Un clic → rapport transmis directement chez Mei Lin Zhang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C50"/>
                </a:solidFill>
              </a:rPr>
              <a:t>Douleur ⑤ traitée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La soirée de rédaction de Marc a disparu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ÉPILOGUE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La boucle se referme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 7:00 · Mei Lin Zhang se connecte au portail RATP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C50"/>
                </a:solidFill>
              </a:rPr>
              <a:t>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ÉPILOGUE — La boucle se referme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0F0"/>
                </a:solidFill>
              </a:rPr>
              <a:t>Portail fournisseur RATP · Mei Lin Zhang — T 7:00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57432" cy="475488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Mei Lin Zhang se connecte — et trouve le rapport de Marc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3949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7D8B"/>
                </a:solidFill>
              </a:rPr>
              <a:t>AVANT L'AUDIT — Documents déposés par Mei Lin Zhang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007E5C"/>
                </a:solidFill>
              </a:rPr>
              <a:t>✓  CR_Audit_nov_2024.docx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07D8B"/>
                </a:solidFill>
              </a:rPr>
              <a:t>  Compte-rendu · pré-analysé par Claude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E5C"/>
                </a:solidFill>
              </a:rPr>
              <a:t>✓  Procedures_etalonnage_v3.pdf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07D8B"/>
                </a:solidFill>
              </a:rPr>
              <a:t>  Procédure interne · équipements périmés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E5C"/>
                </a:solidFill>
              </a:rPr>
              <a:t>✓  Plan_qualite_2025.pdf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07D8B"/>
                </a:solidFill>
              </a:rPr>
              <a:t>  Plan qualité · budget non alloué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D8B"/>
                </a:solidFill>
              </a:rPr>
              <a:t>Catégories : Audit &amp; Inspection · Procédures · Sécurité &amp; Risques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0AD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828800"/>
            <a:ext cx="5212080" cy="3474720"/>
          </a:xfrm>
          <a:prstGeom prst="rect">
            <a:avLst/>
          </a:prstGeom>
          <a:solidFill>
            <a:srgbClr val="E3F2FD"/>
          </a:solidFill>
          <a:ln w="9525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5212080" cy="438912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836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NOUVEAU  ·  Rapport d'audit  ·  Badge Bureau Veritas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070AD"/>
                </a:solidFill>
              </a:rPr>
              <a:t>Type : </a:t>
            </a:r>
            <a:r>
              <a:rPr sz="1100">
                <a:solidFill>
                  <a:srgbClr val="1A2E3B"/>
                </a:solidFill>
              </a:rPr>
              <a:t>Rapport d'audit BV · Badge bleu Bureau Veritas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70AD"/>
                </a:solidFill>
              </a:rPr>
              <a:t>Analyse : </a:t>
            </a:r>
            <a:r>
              <a:rPr sz="1100">
                <a:solidFill>
                  <a:srgbClr val="1A2E3B"/>
                </a:solidFill>
              </a:rPr>
              <a:t>2 NC majeures · clauses §7.1.5 et §8.7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70AD"/>
                </a:solidFill>
              </a:rPr>
              <a:t>Actions : </a:t>
            </a:r>
            <a:r>
              <a:rPr sz="1100">
                <a:solidFill>
                  <a:srgbClr val="1A2E3B"/>
                </a:solidFill>
              </a:rPr>
              <a:t>Étalonnage COFRAC &lt; 72 h · Zone quarantaine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70AD"/>
                </a:solidFill>
              </a:rPr>
              <a:t>Fichier : </a:t>
            </a:r>
            <a:r>
              <a:rPr sz="1100">
                <a:solidFill>
                  <a:srgbClr val="1A2E3B"/>
                </a:solidFill>
              </a:rPr>
              <a:t>⬇ Télécharger le .docx signé — disponible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70AD"/>
                </a:solidFill>
              </a:rPr>
              <a:t>Persistance : </a:t>
            </a:r>
            <a:r>
              <a:rPr sz="1100">
                <a:solidFill>
                  <a:srgbClr val="1A2E3B"/>
                </a:solidFill>
              </a:rPr>
              <a:t>localStorage — survit à F5 + changement de compte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11457432" cy="9144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5604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F0"/>
                </a:solidFill>
              </a:rPr>
              <a:t>RATP dépose  →  BV audite  →  le rapport revient à RATP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Une seule plateforme · Un seul moteur IA · La boucle est complète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ÉPILOGUE · Portail RATP — Mei Lin Zhang reçoit le rapport de Marc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64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</a:rPr>
              <a:t>ÉCRAN →</a:t>
            </a:r>
          </a:p>
        </p:txBody>
      </p:sp>
      <p:pic>
        <p:nvPicPr>
          <p:cNvPr id="6" name="Picture 5" descr="06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6" y="713232"/>
            <a:ext cx="959104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1A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C40"/>
                </a:solidFill>
              </a:rPr>
              <a:t>Badge Bureau Veritas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Le rapport de Marc apparaît en tête de liste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118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C40"/>
                </a:solidFill>
              </a:rPr>
              <a:t>Analyse instantanée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118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2 NC majeures · actions · clauses à risque déjà visibles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C40"/>
                </a:solidFill>
              </a:rPr>
              <a:t>⬇ Télécharger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Le .docx signé est récupérable en un clic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6199632"/>
            <a:ext cx="13716" cy="566928"/>
          </a:xfrm>
          <a:prstGeom prst="rect">
            <a:avLst/>
          </a:prstGeom>
          <a:solidFill>
            <a:srgbClr val="40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6199632"/>
            <a:ext cx="27729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C40"/>
                </a:solidFill>
              </a:rPr>
              <a:t>Boucle complète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6510528"/>
            <a:ext cx="27729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0"/>
                </a:solidFill>
              </a:rPr>
              <a:t>RATP dépose → BV audite → rapport revient à RATP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Les cinq promesses — toutes tenues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0F0"/>
                </a:solidFill>
              </a:rPr>
              <a:t>UC 28 — Inspection Augmentée · Code Resonance · Hackathon Capgemini × Anthropic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572000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457200" cy="5486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99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AD"/>
                </a:solidFill>
              </a:rPr>
              <a:t>Standardisation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Check-list générée — chaque auditeur part avec la même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45720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14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</a:rPr>
              <a:t>Gain de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00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Brief en 30 s, rapport sur place. La soirée de rédaction : supprimée.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457200" cy="548640"/>
          </a:xfrm>
          <a:prstGeom prst="rect">
            <a:avLst/>
          </a:prstGeom>
          <a:solidFill>
            <a:srgbClr val="00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284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E5C"/>
                </a:solidFill>
              </a:rPr>
              <a:t>Respect des normes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844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Chaque constat sourcé — l'article exact ISO à l'écran, verbatim.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457200" cy="548640"/>
          </a:xfrm>
          <a:prstGeom prst="rect">
            <a:avLst/>
          </a:prstGeom>
          <a:solidFill>
            <a:srgbClr val="D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428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A00"/>
                </a:solidFill>
              </a:rPr>
              <a:t>Capitalisation 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988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Confirmer/Corriger — 23 ans d'expertise BV capturés et redistribués.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457200" cy="5486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57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B47BC"/>
                </a:solidFill>
              </a:rPr>
              <a:t>Qualité &amp; traçabilité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132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Tout est daté, sourcé, signé. Explicabilité native — exigence CDC.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280160"/>
            <a:ext cx="36576" cy="5029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1371600"/>
            <a:ext cx="3200400" cy="2194560"/>
          </a:xfrm>
          <a:prstGeom prst="rect">
            <a:avLst/>
          </a:prstGeom>
          <a:solidFill>
            <a:srgbClr val="00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</a:rPr>
              <a:t>90% PAPERASSE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7D8B"/>
                </a:solidFill>
              </a:rPr>
              <a:t>10% TERRAIN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0F0"/>
                </a:solidFill>
              </a:rPr>
              <a:t>↕  INVERSÉ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E5C"/>
                </a:solidFill>
              </a:rPr>
              <a:t>10% PAPERASSE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9992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90% TERRAIN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3749039"/>
            <a:ext cx="3200400" cy="10058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382219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≈ 24 000 h / 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279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0F0"/>
                </a:solidFill>
              </a:rPr>
              <a:t>potentiel récupéré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080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Merci.  · Philippe Gragnic · Habib Koffi · Véronique Poilane Zhang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080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0F0"/>
                </a:solidFill>
              </a:rPr>
              <a:t>Équipe Code Resonance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