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97A7"/>
                </a:solidFill>
                <a:latin typeface="Calibri"/>
              </a:rPr>
              <a:t>HACKATHON CAPGEMINI × ANTHROPIC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Trebuchet MS"/>
              </a:rPr>
              <a:t>UC 28 — </a:t>
            </a:r>
            <a:r>
              <a:rPr sz="4600" b="1">
                <a:solidFill>
                  <a:srgbClr val="FF6F00"/>
                </a:solidFill>
                <a:latin typeface="Trebuchet MS"/>
              </a:rPr>
              <a:t>Inspection Augmentée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CFD8DC"/>
                </a:solidFill>
                <a:latin typeface="Calibri"/>
              </a:rPr>
              <a:t>Spécifications techniques du démonstrateur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0A4AE"/>
                </a:solidFill>
                <a:latin typeface="Calibri"/>
              </a:rPr>
              <a:t>ÉQUIPE CODE RESONANCE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3383280" cy="868680"/>
          </a:xfrm>
          <a:prstGeom prst="roundRect">
            <a:avLst>
              <a:gd name="adj" fmla="val 18000"/>
            </a:avLst>
          </a:prstGeom>
          <a:solidFill>
            <a:srgbClr val="455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Habib KOFFI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alibri"/>
              </a:rPr>
              <a:t>Agent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983480"/>
            <a:ext cx="3383280" cy="868680"/>
          </a:xfrm>
          <a:prstGeom prst="roundRect">
            <a:avLst>
              <a:gd name="adj" fmla="val 18000"/>
            </a:avLst>
          </a:prstGeom>
          <a:solidFill>
            <a:srgbClr val="455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50749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Véronique POILANE ZHANG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alibri"/>
              </a:rPr>
              <a:t>UI /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983480"/>
            <a:ext cx="3383280" cy="868680"/>
          </a:xfrm>
          <a:prstGeom prst="roundRect">
            <a:avLst>
              <a:gd name="adj" fmla="val 18000"/>
            </a:avLst>
          </a:prstGeom>
          <a:solidFill>
            <a:srgbClr val="455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50749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Philippe GRAGNIC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DD0E1"/>
                </a:solidFill>
                <a:latin typeface="Calibri"/>
              </a:rPr>
              <a:t>Data &amp; Démo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Parcours auditeur — 8 écrans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097A7"/>
                </a:solidFill>
                <a:latin typeface="Calibri"/>
              </a:rPr>
              <a:t>De la connexion à la restitution : un flux unique, pensé terrain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51560" cy="749808"/>
          </a:xfrm>
          <a:prstGeom prst="roundRect">
            <a:avLst>
              <a:gd name="adj" fmla="val 22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0.1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691640"/>
            <a:ext cx="9738360" cy="749808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746504"/>
            <a:ext cx="9235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7474F"/>
                </a:solidFill>
                <a:latin typeface="Calibri"/>
              </a:rPr>
              <a:t>Connexion</a:t>
            </a:r>
            <a:r>
              <a:rPr sz="1300" b="0">
                <a:solidFill>
                  <a:srgbClr val="546E7A"/>
                </a:solidFill>
                <a:latin typeface="Calibri"/>
              </a:rPr>
              <a:t>   —  Mock auth — session auditeur Marc Lefèvre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96312"/>
            <a:ext cx="1051560" cy="749808"/>
          </a:xfrm>
          <a:prstGeom prst="roundRect">
            <a:avLst>
              <a:gd name="adj" fmla="val 22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1051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496312"/>
            <a:ext cx="9738360" cy="749808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551176"/>
            <a:ext cx="9235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7474F"/>
                </a:solidFill>
                <a:latin typeface="Calibri"/>
              </a:rPr>
              <a:t>Sélection client</a:t>
            </a:r>
            <a:r>
              <a:rPr sz="1300" b="0">
                <a:solidFill>
                  <a:srgbClr val="546E7A"/>
                </a:solidFill>
                <a:latin typeface="Calibri"/>
              </a:rPr>
              <a:t>   —  RATP / Apave / Bureau Veritas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00984"/>
            <a:ext cx="1051560" cy="749808"/>
          </a:xfrm>
          <a:prstGeom prst="roundRect">
            <a:avLst>
              <a:gd name="adj" fmla="val 2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4"/>
            <a:ext cx="1051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3300984"/>
            <a:ext cx="9738360" cy="749808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3355848"/>
            <a:ext cx="9235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7474F"/>
                </a:solidFill>
                <a:latin typeface="Calibri"/>
              </a:rPr>
              <a:t>Dashboard</a:t>
            </a:r>
            <a:r>
              <a:rPr sz="1300" b="0">
                <a:solidFill>
                  <a:srgbClr val="546E7A"/>
                </a:solidFill>
                <a:latin typeface="Calibri"/>
              </a:rPr>
              <a:t>   —  Planning, carte interactive, filtres, calcul des trajets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05656"/>
            <a:ext cx="1051560" cy="749808"/>
          </a:xfrm>
          <a:prstGeom prst="roundRect">
            <a:avLst>
              <a:gd name="adj" fmla="val 2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05656"/>
            <a:ext cx="1051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4105656"/>
            <a:ext cx="9738360" cy="749808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4160520"/>
            <a:ext cx="9235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7474F"/>
                </a:solidFill>
                <a:latin typeface="Calibri"/>
              </a:rPr>
              <a:t>Brief</a:t>
            </a:r>
            <a:r>
              <a:rPr sz="1300" b="0">
                <a:solidFill>
                  <a:srgbClr val="546E7A"/>
                </a:solidFill>
                <a:latin typeface="Calibri"/>
              </a:rPr>
              <a:t>   —  Checklist pré-audit éditable, ingestion d'un CR externe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10327"/>
            <a:ext cx="1051560" cy="749808"/>
          </a:xfrm>
          <a:prstGeom prst="roundRect">
            <a:avLst>
              <a:gd name="adj" fmla="val 2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7"/>
            <a:ext cx="1051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3 /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" y="4910327"/>
            <a:ext cx="9738360" cy="749808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4965191"/>
            <a:ext cx="9235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7474F"/>
                </a:solidFill>
                <a:latin typeface="Calibri"/>
              </a:rPr>
              <a:t>Capture</a:t>
            </a:r>
            <a:r>
              <a:rPr sz="1300" b="0">
                <a:solidFill>
                  <a:srgbClr val="546E7A"/>
                </a:solidFill>
                <a:latin typeface="Calibri"/>
              </a:rPr>
              <a:t>   —  Saisie vocale, photo, analyse ISO, suggestions IA, questions oui/non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715000"/>
            <a:ext cx="1051560" cy="749808"/>
          </a:xfrm>
          <a:prstGeom prst="roundRect">
            <a:avLst>
              <a:gd name="adj" fmla="val 2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51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5715000"/>
            <a:ext cx="9738360" cy="749808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5769864"/>
            <a:ext cx="9235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7474F"/>
                </a:solidFill>
                <a:latin typeface="Calibri"/>
              </a:rPr>
              <a:t>Rapport</a:t>
            </a:r>
            <a:r>
              <a:rPr sz="1300" b="0">
                <a:solidFill>
                  <a:srgbClr val="546E7A"/>
                </a:solidFill>
                <a:latin typeface="Calibri"/>
              </a:rPr>
              <a:t>   —  Actions correctives, signature, anonymisation RGPD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3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83480" y="1234440"/>
            <a:ext cx="2286000" cy="502920"/>
          </a:xfrm>
          <a:prstGeom prst="roundRect">
            <a:avLst>
              <a:gd name="adj" fmla="val 30000"/>
            </a:avLst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Auditeur terrain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0" y="1737360"/>
            <a:ext cx="0" cy="411480"/>
          </a:xfrm>
          <a:prstGeom prst="line">
            <a:avLst/>
          </a:prstGeom>
          <a:ln w="25400">
            <a:solidFill>
              <a:srgbClr val="90A4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0A4AE"/>
                </a:solidFill>
                <a:latin typeface="Calibri"/>
              </a:rPr>
              <a:t>HTTPS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148840"/>
            <a:ext cx="3931920" cy="114300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React 18 + Vite 5  ·  Tailwind CSS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Leaflet (carte)  ·  Web Speech API (voix)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79" y="3291840"/>
            <a:ext cx="0" cy="411480"/>
          </a:xfrm>
          <a:prstGeom prst="line">
            <a:avLst/>
          </a:prstGeom>
          <a:ln w="25400">
            <a:solidFill>
              <a:srgbClr val="90A4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19" y="3337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0A4AE"/>
                </a:solidFill>
                <a:latin typeface="Calibri"/>
              </a:rPr>
              <a:t>REST API (JSON)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703320"/>
            <a:ext cx="3931920" cy="1188720"/>
          </a:xfrm>
          <a:prstGeom prst="roundRect">
            <a:avLst>
              <a:gd name="adj" fmla="val 10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FastAPI — Python 3.12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agent.py  ·  rag.py  ·  database.py (SQLite)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61457" y="4892040"/>
            <a:ext cx="0" cy="457200"/>
          </a:xfrm>
          <a:prstGeom prst="line">
            <a:avLst/>
          </a:prstGeom>
          <a:ln w="25400">
            <a:solidFill>
              <a:srgbClr val="90A4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91502" y="4892040"/>
            <a:ext cx="0" cy="457200"/>
          </a:xfrm>
          <a:prstGeom prst="line">
            <a:avLst/>
          </a:prstGeom>
          <a:ln w="25400">
            <a:solidFill>
              <a:srgbClr val="90A4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534924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Claude Sonnet 4.6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API Anthropic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534924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RAG ISO 9001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sentence-transformers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+ corpus normatif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4 /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881360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4754880"/>
                <a:gridCol w="310896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Couche</a:t>
                      </a:r>
                    </a:p>
                  </a:txBody>
                  <a:tcPr marL="109728" marR="73152" marT="27432" marB="27432" anchor="ctr">
                    <a:solidFill>
                      <a:srgbClr val="3747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Technologie</a:t>
                      </a:r>
                    </a:p>
                  </a:txBody>
                  <a:tcPr marL="109728" marR="73152" marT="27432" marB="27432" anchor="ctr">
                    <a:solidFill>
                      <a:srgbClr val="3747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109728" marR="73152" marT="27432" marB="27432" anchor="ctr">
                    <a:solidFill>
                      <a:srgbClr val="37474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Python + FastAPI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3.12 / ≥ 0.110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React + Vite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18 / 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Styles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Tailwind CSS + Inter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Modèle IA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claude-sonnet-4-6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SDK IA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Anthropic Python SDK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dernière stable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sentence-transformers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all-MiniLM-L6-v2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Base de données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Carte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Leaflet + OpenStreetMap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react-leaflet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565C0"/>
                          </a:solidFill>
                          <a:latin typeface="Calibri"/>
                        </a:rPr>
                        <a:t>Runtime deps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3238"/>
                          </a:solidFill>
                          <a:latin typeface="Calibri"/>
                        </a:rPr>
                        <a:t>uv (Python) / npm (Node)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46E7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API Backend — 7 routes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5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914400" cy="6400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417320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2C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417320"/>
            <a:ext cx="2971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/sites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417320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7474F"/>
                </a:solidFill>
                <a:latin typeface="Calibri"/>
              </a:rPr>
              <a:t>Liste des sites d'audit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21408"/>
            <a:ext cx="914400" cy="6400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121408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2C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121408"/>
            <a:ext cx="2971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/sites/{id}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121408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7474F"/>
                </a:solidFill>
                <a:latin typeface="Calibri"/>
              </a:rPr>
              <a:t>Détail d'un 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25496"/>
            <a:ext cx="914400" cy="64008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2825496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2C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2825496"/>
            <a:ext cx="2971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/analyser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25496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7474F"/>
                </a:solidFill>
                <a:latin typeface="Calibri"/>
              </a:rPr>
              <a:t>Analyse ISO 9001 — criticité, clause, score, récidive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29584"/>
            <a:ext cx="914400" cy="64008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295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3529584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2C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529584"/>
            <a:ext cx="2971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/synthetiser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529584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7474F"/>
                </a:solidFill>
                <a:latin typeface="Calibri"/>
              </a:rPr>
              <a:t>Reformulation professionnelle de l'observation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33672"/>
            <a:ext cx="914400" cy="64008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33672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233672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2C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4233672"/>
            <a:ext cx="2971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/suggestions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233672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7474F"/>
                </a:solidFill>
                <a:latin typeface="Calibri"/>
              </a:rPr>
              <a:t>3 exemples d'observations terrain contextualisées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37760"/>
            <a:ext cx="914400" cy="64008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37760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4937760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2C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4937760"/>
            <a:ext cx="2971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/questions_oui_non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937760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7474F"/>
                </a:solidFill>
                <a:latin typeface="Calibri"/>
              </a:rPr>
              <a:t>3 questions de vérification oui / non contextualisées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641848"/>
            <a:ext cx="914400" cy="640080"/>
          </a:xfrm>
          <a:prstGeom prst="roundRect">
            <a:avLst>
              <a:gd name="adj" fmla="val 25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641848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45920" y="5641848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2C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83080" y="5641848"/>
            <a:ext cx="2971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/docs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641848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7474F"/>
                </a:solidFill>
                <a:latin typeface="Calibri"/>
              </a:rPr>
              <a:t>Documentation interactive Swagger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Intégration Claude API — 4 usages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6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1663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Analyse ISO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29967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565C0"/>
                </a:solidFill>
                <a:latin typeface="Calibri"/>
              </a:rPr>
              <a:t>Prompt : </a:t>
            </a:r>
            <a:r>
              <a:rPr sz="1200" b="0">
                <a:solidFill>
                  <a:srgbClr val="263238"/>
                </a:solidFill>
                <a:latin typeface="Calibri"/>
              </a:rPr>
              <a:t>observation brute + clause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565C0"/>
                </a:solidFill>
                <a:latin typeface="Calibri"/>
              </a:rPr>
              <a:t>Sortie : </a:t>
            </a:r>
            <a:r>
              <a:rPr sz="1200" b="0">
                <a:solidFill>
                  <a:srgbClr val="263238"/>
                </a:solidFill>
                <a:latin typeface="Calibri"/>
              </a:rPr>
              <a:t>criticité (MAJEURE / MINEURE / OBSERVATION / CONFORME), score 0-3, extrait RAG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565C0"/>
                </a:solidFill>
                <a:latin typeface="Calibri"/>
              </a:rPr>
              <a:t>Optim. : </a:t>
            </a:r>
            <a:r>
              <a:rPr sz="1200" b="0">
                <a:solidFill>
                  <a:srgbClr val="263238"/>
                </a:solidFill>
                <a:latin typeface="Calibri"/>
              </a:rPr>
              <a:t>prompt caching activé sur le system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71600"/>
            <a:ext cx="51663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Synthèse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29967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7474F"/>
                </a:solidFill>
                <a:latin typeface="Calibri"/>
              </a:rPr>
              <a:t>Prompt : </a:t>
            </a:r>
            <a:r>
              <a:rPr sz="1200" b="0">
                <a:solidFill>
                  <a:srgbClr val="263238"/>
                </a:solidFill>
                <a:latin typeface="Calibri"/>
              </a:rPr>
              <a:t>observation brute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7474F"/>
                </a:solidFill>
                <a:latin typeface="Calibri"/>
              </a:rPr>
              <a:t>Sortie : </a:t>
            </a:r>
            <a:r>
              <a:rPr sz="1200" b="0">
                <a:solidFill>
                  <a:srgbClr val="263238"/>
                </a:solidFill>
                <a:latin typeface="Calibri"/>
              </a:rPr>
              <a:t>reformulation nominale, concise, professionnelle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7474F"/>
                </a:solidFill>
                <a:latin typeface="Calibri"/>
              </a:rPr>
              <a:t>Limite : </a:t>
            </a:r>
            <a:r>
              <a:rPr sz="1200" b="0">
                <a:solidFill>
                  <a:srgbClr val="263238"/>
                </a:solidFill>
                <a:latin typeface="Calibri"/>
              </a:rPr>
              <a:t>120 tokens max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51663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98848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Calibri"/>
              </a:rPr>
              <a:t>Prompt : </a:t>
            </a:r>
            <a:r>
              <a:rPr sz="1200" b="0">
                <a:solidFill>
                  <a:srgbClr val="263238"/>
                </a:solidFill>
                <a:latin typeface="Calibri"/>
              </a:rPr>
              <a:t>item checklist + clause + section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Calibri"/>
              </a:rPr>
              <a:t>Sortie : </a:t>
            </a:r>
            <a:r>
              <a:rPr sz="1200" b="0">
                <a:solidFill>
                  <a:srgbClr val="263238"/>
                </a:solidFill>
                <a:latin typeface="Calibri"/>
              </a:rPr>
              <a:t>3 exemples d'observations terrain réalistes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Calibri"/>
              </a:rPr>
              <a:t>Usage : </a:t>
            </a:r>
            <a:r>
              <a:rPr sz="1200" b="0">
                <a:solidFill>
                  <a:srgbClr val="263238"/>
                </a:solidFill>
                <a:latin typeface="Calibri"/>
              </a:rPr>
              <a:t>aide à la saisie sur 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840480"/>
            <a:ext cx="51663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Questions oui / 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98848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F00"/>
                </a:solidFill>
                <a:latin typeface="Calibri"/>
              </a:rPr>
              <a:t>Prompt : </a:t>
            </a:r>
            <a:r>
              <a:rPr sz="1200" b="0">
                <a:solidFill>
                  <a:srgbClr val="263238"/>
                </a:solidFill>
                <a:latin typeface="Calibri"/>
              </a:rPr>
              <a:t>item checklist + clause + section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F00"/>
                </a:solidFill>
                <a:latin typeface="Calibri"/>
              </a:rPr>
              <a:t>Sortie : </a:t>
            </a:r>
            <a:r>
              <a:rPr sz="1200" b="0">
                <a:solidFill>
                  <a:srgbClr val="263238"/>
                </a:solidFill>
                <a:latin typeface="Calibri"/>
              </a:rPr>
              <a:t>3 questions de vérification binaires contextualisées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F00"/>
                </a:solidFill>
                <a:latin typeface="Calibri"/>
              </a:rPr>
              <a:t>Usage : </a:t>
            </a:r>
            <a:r>
              <a:rPr sz="1200" b="0">
                <a:solidFill>
                  <a:srgbClr val="263238"/>
                </a:solidFill>
                <a:latin typeface="Calibri"/>
              </a:rPr>
              <a:t>guidage de l'auditeur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Retrieval-Augmented Generation — ISO 9001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7 / 10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7474F"/>
                </a:solidFill>
                <a:latin typeface="Calibri"/>
              </a:rPr>
              <a:t>Corpus ISO 9001:2015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46E7A"/>
                </a:solidFill>
                <a:latin typeface="Calibri"/>
              </a:rPr>
              <a:t>découpé en chunks sémantiques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68296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682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0008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7474F"/>
                </a:solidFill>
                <a:latin typeface="Calibri"/>
              </a:rPr>
              <a:t>Embeddings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46E7A"/>
                </a:solidFill>
                <a:latin typeface="Calibri"/>
              </a:rPr>
              <a:t>sentence-transformers (all-MiniLM-L6-v2)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9272"/>
            <a:ext cx="566928" cy="566928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19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00984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7474F"/>
                </a:solidFill>
                <a:latin typeface="Calibri"/>
              </a:rPr>
              <a:t>Préchargement FastAPI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46E7A"/>
                </a:solidFill>
                <a:latin typeface="Calibri"/>
              </a:rPr>
              <a:t>lifespan → latence ~0 ms après init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70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7474F"/>
                </a:solidFill>
                <a:latin typeface="Calibri"/>
              </a:rPr>
              <a:t>Recherche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46E7A"/>
                </a:solidFill>
                <a:latin typeface="Calibri"/>
              </a:rPr>
              <a:t>similarité cosinus sur l'observation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212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02936"/>
            <a:ext cx="4937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7474F"/>
                </a:solidFill>
                <a:latin typeface="Calibri"/>
              </a:rPr>
              <a:t>Injection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46E7A"/>
                </a:solidFill>
                <a:latin typeface="Calibri"/>
              </a:rPr>
              <a:t>Top-3 articles dans le prompt d'analyse Claude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371600"/>
            <a:ext cx="4800600" cy="4572000"/>
          </a:xfrm>
          <a:prstGeom prst="roundRect">
            <a:avLst>
              <a:gd name="adj" fmla="val 5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5544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Côté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103120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Affichage des articles ISO pertinents directement dans l'écran Capture (colonne de droite).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L'auditeur voit la source normative qui justifie chaque analyse — transparence et explicabilité.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Aucun appel réseau supplémentaire : la base est en mémoire dès le démarrage du serveur.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UX avancée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8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Navigation &amp; terrain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23744"/>
            <a:ext cx="164592" cy="16459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40280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3 thèmes visuels : Classique / Agile Diagrams / Aria Navy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7296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547872"/>
            <a:ext cx="164592" cy="16459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264408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Saisie vocale Web Speech API (fr-FR, toggle micro)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97096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572000"/>
            <a:ext cx="164592" cy="16459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4288536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Carte Leaflet interactive — parcours auditeur (flyTo animé)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21224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5596128"/>
            <a:ext cx="164592" cy="164592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5312664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Badge hors-ligne réactif (navigator.onLine)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37160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Productivité &amp; conformité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1488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2523744"/>
            <a:ext cx="164592" cy="164592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240280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Checklist éditable : ajout / suppression d'items, propagation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7296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9400" y="3547872"/>
            <a:ext cx="164592" cy="164592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264408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Animation « moment fort » NC MAJEURE (ring pulsant 3,5 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97096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29400" y="4572000"/>
            <a:ext cx="164592" cy="164592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288536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Ingestion CR externe PDF / DOCX (mock analyse IA 2,2 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221224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29400" y="5596128"/>
            <a:ext cx="164592" cy="164592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5312664"/>
            <a:ext cx="4434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Anonymisation RGPD : toggle dans le rapport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Points d'attention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9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743200" cy="731520"/>
          </a:xfrm>
          <a:prstGeom prst="roundRect">
            <a:avLst>
              <a:gd name="adj" fmla="val 14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Clé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173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41732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ANTHROPIC_API_KEY dans backend/.env — jamais commitée (gitignore)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2743200" cy="731520"/>
          </a:xfrm>
          <a:prstGeom prst="roundRect">
            <a:avLst>
              <a:gd name="adj" fmla="val 14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Format clé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2402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24028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sk-ant-api03-… (~100 caractères) — clé tronquée → erreur 401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2743200" cy="731520"/>
          </a:xfrm>
          <a:prstGeom prst="roundRect">
            <a:avLst>
              <a:gd name="adj" fmla="val 14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Prompt caching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0632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06324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system prompt en cache_control: ephemeral → réduction du coût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2743200" cy="731520"/>
          </a:xfrm>
          <a:prstGeom prst="roundRect">
            <a:avLst>
              <a:gd name="adj" fmla="val 14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Dépôt léger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88620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fichiers data/ volumineux exclus (CSV, JSON, Parquet, DB)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2743200" cy="731520"/>
          </a:xfrm>
          <a:prstGeom prst="roundRect">
            <a:avLst>
              <a:gd name="adj" fmla="val 14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Latence modèle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70916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470916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sentence-transformers préchargé au démarrage (évite 30-60 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2743200" cy="731520"/>
          </a:xfrm>
          <a:prstGeom prst="roundRect">
            <a:avLst>
              <a:gd name="adj" fmla="val 14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55321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553212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Calibri"/>
              </a:rPr>
              <a:t>configuré en développement (origins localhost:5173)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37474F"/>
                </a:solidFill>
                <a:latin typeface="Trebuchet MS"/>
              </a:rPr>
              <a:t>Lancer l'application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0A4AE"/>
                </a:solidFill>
                <a:latin typeface="Calibri"/>
              </a:rPr>
              <a:t>10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4160520"/>
          </a:xfrm>
          <a:prstGeom prst="roundRect">
            <a:avLst>
              <a:gd name="adj" fmla="val 4000"/>
            </a:avLst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tIns="228600" rIns="274320" bIns="18288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90A4AE"/>
                </a:solidFill>
                <a:latin typeface="Consolas"/>
              </a:rPr>
              <a:t># Windows — un clic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.\start.bat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90A4AE"/>
                </a:solidFill>
                <a:latin typeface="Consolas"/>
              </a:rPr>
              <a:t># Backend manuel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cd backend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uv run uvicorn main:app --reload --host 0.0.0.0 --port 8000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90A4AE"/>
                </a:solidFill>
                <a:latin typeface="Consolas"/>
              </a:rPr>
              <a:t># Frontend manuel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cd frontend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npm install &amp;&amp; npm run dev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0097A7"/>
                </a:solidFill>
                <a:latin typeface="Consolas"/>
              </a:rPr>
              <a:t># → http://localhost:5173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90A4AE"/>
                </a:solidFill>
                <a:latin typeface="Consolas"/>
              </a:rPr>
              <a:t># API docs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0097A7"/>
                </a:solidFill>
                <a:latin typeface="Consolas"/>
              </a:rPr>
              <a:t># → http://localhost:8000/docs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7474F"/>
                </a:solidFill>
                <a:latin typeface="Calibri"/>
              </a:rPr>
              <a:t>Prérequis — </a:t>
            </a:r>
            <a:r>
              <a:rPr sz="1300" b="0">
                <a:solidFill>
                  <a:srgbClr val="546E7A"/>
                </a:solidFill>
                <a:latin typeface="Calibri"/>
              </a:rPr>
              <a:t>Python 3.12 · Node.js 18+ · clé Anthropic dans backend/.env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