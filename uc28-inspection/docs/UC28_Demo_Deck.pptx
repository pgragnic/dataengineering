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CA083-84BE-974A-8C6A-EDC2834E09A7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6AC81-D089-EF44-9790-95D0647D22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83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81360" y="4297680"/>
            <a:ext cx="3108960" cy="31089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822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A89E"/>
                </a:solidFill>
                <a:latin typeface="Trebuchet MS"/>
              </a:rPr>
              <a:t>VIBE CODING HACKATHON  ·  CAPGEMINI × ANTHROPIC  ·  UC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Trebuchet MS"/>
              </a:rPr>
              <a:t>BV·Inspect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2491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D2E0"/>
                </a:solidFill>
                <a:latin typeface="Calibri"/>
              </a:rPr>
              <a:t>The copilot for Bureau Veritas inspectors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493008"/>
            <a:ext cx="868680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3675887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7316"/>
                </a:solidFill>
                <a:latin typeface="Trebuchet MS"/>
              </a:rPr>
              <a:t>5 jours  →  26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3159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8A94A6"/>
                </a:solidFill>
                <a:latin typeface="Calibri"/>
              </a:rPr>
              <a:t>Le temps de </a:t>
            </a:r>
            <a:r>
              <a:rPr sz="1500" b="0" i="0">
                <a:solidFill>
                  <a:srgbClr val="8A94A6"/>
                </a:solidFill>
                <a:latin typeface="Calibri"/>
              </a:rPr>
              <a:t>génération</a:t>
            </a:r>
            <a:r>
              <a:rPr sz="1500" b="0" i="0" dirty="0">
                <a:solidFill>
                  <a:srgbClr val="8A94A6"/>
                </a:solidFill>
                <a:latin typeface="Calibri"/>
              </a:rPr>
              <a:t> d'un rapport </a:t>
            </a:r>
            <a:r>
              <a:rPr sz="1500" b="0" i="0" dirty="0" err="1">
                <a:solidFill>
                  <a:srgbClr val="8A94A6"/>
                </a:solidFill>
                <a:latin typeface="Calibri"/>
              </a:rPr>
              <a:t>d'audit</a:t>
            </a:r>
            <a:r>
              <a:rPr sz="1500" b="0" i="0" dirty="0">
                <a:solidFill>
                  <a:srgbClr val="8A94A6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8A94A6"/>
                </a:solidFill>
                <a:latin typeface="Calibri"/>
              </a:rPr>
              <a:t>qualité</a:t>
            </a:r>
            <a:endParaRPr sz="1500" b="0" i="0" dirty="0">
              <a:solidFill>
                <a:srgbClr val="8A94A6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11680" y="4892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6"/>
                </a:solidFill>
                <a:latin typeface="Calibri"/>
              </a:rPr>
              <a:t>Équipe Code Resonance  ·  Habib KOFFI  ·  Véronique POILANE ZHANG  ·  Philippe GRAGNIC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349240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53858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3A89E"/>
                </a:solidFill>
                <a:latin typeface="Trebuchet MS"/>
              </a:rPr>
              <a:t>Marc Lefèvre · BV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5349240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8" y="53858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3A89E"/>
                </a:solidFill>
                <a:latin typeface="Trebuchet MS"/>
              </a:rPr>
              <a:t>RATP · ISO 9001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5349240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53858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3A89E"/>
                </a:solidFill>
                <a:latin typeface="Trebuchet MS"/>
              </a:rPr>
              <a:t>Claude Sonnet 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5349240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95944" y="538581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3A89E"/>
                </a:solidFill>
                <a:latin typeface="Trebuchet MS"/>
              </a:rPr>
              <a:t>RAG normatif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Le scénario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Lundi 12 mai 2026 · 14h30 · RATP Atelier Sucy-en-Brie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749039" cy="47091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29968" y="1737360"/>
            <a:ext cx="914400" cy="9144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Marc Lefèvre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A89E"/>
                </a:solidFill>
                <a:latin typeface="Trebuchet MS"/>
              </a:rPr>
              <a:t>Auditeur Bureau Veritas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9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3A89E"/>
                </a:solidFill>
                <a:latin typeface="Calibri"/>
              </a:rPr>
              <a:t>Mandaté sur les sites RATP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21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23 ans de métier chez BV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210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80 audits/an · clients industrie &amp;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5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Expert ISO 9001 · peu à l'aise avec le digital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526280"/>
            <a:ext cx="3602736" cy="1371600"/>
          </a:xfrm>
          <a:prstGeom prst="rect">
            <a:avLst/>
          </a:prstGeom>
          <a:solidFill>
            <a:srgbClr val="2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4A6"/>
                </a:solidFill>
                <a:latin typeface="Trebuchet MS"/>
              </a:rPr>
              <a:t>Sans BV·Inspect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81E2C"/>
                </a:solidFill>
                <a:latin typeface="Trebuchet MS"/>
              </a:rPr>
              <a:t>Rapport envoyé jeudi — 3 jours après l'audit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3036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2E0"/>
                </a:solidFill>
                <a:latin typeface="Calibri"/>
              </a:rPr>
              <a:t>Soirée et lendemain à rédiger manuellement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371600"/>
            <a:ext cx="6949440" cy="47091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109728" cy="470916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1481328"/>
            <a:ext cx="6492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Avec BV·Inspect — le même lundi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029968"/>
            <a:ext cx="685800" cy="73152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2" y="2103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14h30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20848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Trebuchet MS"/>
              </a:rPr>
              <a:t>Arrivée sur site · Brief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241401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Contexte RATP pré-chargé : 218 agents, NC nov. 2024 non clôturée, checklist §7.1.5 générée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944368"/>
            <a:ext cx="685800" cy="73152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30175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14h35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29992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Trebuchet MS"/>
              </a:rPr>
              <a:t>Inspection terrain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332841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Voix + photo · Claude analyse chaque constat en temps réel · récidives détectées automatiquement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858768"/>
            <a:ext cx="685800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16h50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39136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Trebuchet MS"/>
              </a:rPr>
              <a:t>Rapport généré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0992" y="424281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2 NC majeures sourcées · plan d'actions · responsables identifiés · DOCX prêt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773168"/>
            <a:ext cx="685800" cy="73152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48463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rebuchet MS"/>
              </a:rPr>
              <a:t>16h57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482803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Trebuchet MS"/>
              </a:rPr>
              <a:t>Rapport signé sur 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5157216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Karim Belkacem (RATP) signe · Marc repart · rapport tracé, validé, envoyé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080760"/>
            <a:ext cx="1092708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6080760"/>
            <a:ext cx="109728" cy="475488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Rapport envoyé le jour même à 16h57 — au lieu du jeudi.  3 jours gagnés par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La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44200" cy="22860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70432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8A94A6"/>
                </a:solidFill>
                <a:latin typeface="Trebuchet MS"/>
              </a:rPr>
              <a:t>5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D2E0"/>
                </a:solidFill>
                <a:latin typeface="Trebuchet M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70432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97316"/>
                </a:solidFill>
                <a:latin typeface="Trebuchet MS"/>
              </a:rPr>
              <a:t>26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6"/>
                </a:solidFill>
                <a:latin typeface="Calibri"/>
              </a:rPr>
              <a:t>Avant BV·Inspect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97316"/>
                </a:solidFill>
                <a:latin typeface="Calibri"/>
              </a:rPr>
              <a:t>Avec BV·Inspect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56432"/>
            <a:ext cx="5166360" cy="2468880"/>
          </a:xfrm>
          <a:prstGeom prst="rect">
            <a:avLst/>
          </a:prstGeom>
          <a:solidFill>
            <a:srgbClr val="28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456432"/>
            <a:ext cx="109728" cy="246888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56616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4A6"/>
                </a:solidFill>
                <a:latin typeface="Trebuchet MS"/>
              </a:rPr>
              <a:t>AVANT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✗  Transcription manuelle des notes terrain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4398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✗  Recherche clause par clause dans 250 pages ISO 9001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8828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✗  Vérification manuelle de l'historique des 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21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✗  Rédaction du rapport — soirée + lendemain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56432"/>
            <a:ext cx="5166360" cy="2468880"/>
          </a:xfrm>
          <a:prstGeom prst="rect">
            <a:avLst/>
          </a:prstGeom>
          <a:solidFill>
            <a:srgbClr val="0A2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456432"/>
            <a:ext cx="109728" cy="246888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566160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A89E"/>
                </a:solidFill>
                <a:latin typeface="Trebuchet MS"/>
              </a:rPr>
              <a:t>AVEC BV·INSPECT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✓  Saisie vocale transcrite instantanément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443983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✓  Claude cite la clause exacte en temps réel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8828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✓  Récidives alertées automatiquement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5321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✓  Rapport généré et signé sur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FastAPI + React + Claude Sonnet 4.6 + RAG ISO 9001 — 4 endpoints IA spécialisés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2708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2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Calibri"/>
              </a:rPr>
              <a:t>Voix + photo  →  Claude Sonnet 4.6  →  NC détectée, sourcée, justifiée  →  Rapport signé sur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21408"/>
            <a:ext cx="1600200" cy="13716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109728" cy="137160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231136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Trebuchet MS"/>
              </a:rPr>
              <a:t>Marc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96896"/>
            <a:ext cx="1261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Voix · Photo
Navigation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2761488"/>
            <a:ext cx="457200" cy="109728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2" y="266090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938528"/>
            <a:ext cx="2240280" cy="1737360"/>
          </a:xfrm>
          <a:prstGeom prst="rect">
            <a:avLst/>
          </a:prstGeom>
          <a:solidFill>
            <a:srgbClr val="1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938528"/>
            <a:ext cx="109728" cy="173736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0299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A89E"/>
                </a:solidFill>
                <a:latin typeface="Trebuchet M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18 + 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8833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Leaflet · Web Speech
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2761488"/>
            <a:ext cx="457200" cy="109728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0952" y="266090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1938528"/>
            <a:ext cx="2377440" cy="17373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04688" y="1938528"/>
            <a:ext cx="109728" cy="173736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87568" y="202996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81E2C"/>
                </a:solidFill>
                <a:latin typeface="Trebuchet MS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3774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FastAPI · Python 3.12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688336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agent.py · rag.py
SQLite historique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450592"/>
            <a:ext cx="457200" cy="109728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35000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1938528"/>
            <a:ext cx="2743200" cy="1737360"/>
          </a:xfrm>
          <a:prstGeom prst="rect">
            <a:avLst/>
          </a:prstGeom>
          <a:solidFill>
            <a:srgbClr val="3A1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94192" y="1938528"/>
            <a:ext cx="109728" cy="1737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77072" y="202996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Trebuchet MS"/>
              </a:rPr>
              <a:t>CLAUDE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23774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Sonnet 4.6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26883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Prompt caching activé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2971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Réduction coût ~80 %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703320"/>
            <a:ext cx="118872" cy="50292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56248" y="413308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4407408"/>
            <a:ext cx="2377440" cy="1371600"/>
          </a:xfrm>
          <a:prstGeom prst="rect">
            <a:avLst/>
          </a:prstGeom>
          <a:solidFill>
            <a:srgbClr val="0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04688" y="4407408"/>
            <a:ext cx="109728" cy="13716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87568" y="449884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A89E"/>
                </a:solidFill>
                <a:latin typeface="Trebuchet MS"/>
              </a:rPr>
              <a:t>RAG ISO 9001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sentence-transformers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51206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Clauses §4 → §10 couvertes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224528"/>
            <a:ext cx="457200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4224528"/>
            <a:ext cx="109728" cy="237744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315968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233"/>
                </a:solidFill>
                <a:latin typeface="Trebuchet MS"/>
              </a:rPr>
              <a:t>4 endpoints 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4754880"/>
            <a:ext cx="256032" cy="256032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70432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Trebuchet MS"/>
              </a:rPr>
              <a:t>/analyser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4754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NC · criticité · clause · score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193792"/>
            <a:ext cx="256032" cy="256032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0432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Trebuchet MS"/>
              </a:rPr>
              <a:t>/synthetiser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519379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Reformulation nominale ISO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5632704"/>
            <a:ext cx="256032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70432" y="5632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Trebuchet MS"/>
              </a:rPr>
              <a:t>/suggestions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80" y="563270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3 exemples terrain contextuels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6071616"/>
            <a:ext cx="25603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70432" y="60716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3"/>
                </a:solidFill>
                <a:latin typeface="Trebuchet MS"/>
              </a:rPr>
              <a:t>/questions_oui_non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6071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577"/>
                </a:solidFill>
                <a:latin typeface="Calibri"/>
              </a:rPr>
              <a:t>3 questions de vérification binaires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Points forts de la démo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Ce qui distingue BV·Inspect d'un outil de formulaire classique.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" cy="16002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17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RAG transparent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Chaque NC affiche les 3 articles de norme sources.
L'auditeur voit POURQUOI c'est une non-conformité — auditabilité totale.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109728" cy="16002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1517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Mémoire inter-audits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96596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Alerte automatique si une NC similaire a été trouvée sur ce site en 2024.
Récidive §7.1.5 étalonnage → animation ring rouge 3,5 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82112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182112"/>
            <a:ext cx="109728" cy="1600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32841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Checklist éditable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76472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L'auditeur supprime des items non pertinents, ajoute ses propres points terrain.
Les modifications sont propagées à l'écran Capture.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82112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182112"/>
            <a:ext cx="109728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6832" y="332841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Questions oui/non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776472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À chaque item sélectionné : 3 questions de vérification générées par Claude.
Réponses en un tap — intégrées automatiquement au rapport.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92624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992624"/>
            <a:ext cx="109728" cy="16002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13892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Suggestions contextuelles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586984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3 exemples d'observations terrain proposés par Claude avant la saisie.
Adaptés au site RATP, à la clause ISO et à la section auditée.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992624"/>
            <a:ext cx="5440680" cy="1600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4992624"/>
            <a:ext cx="109728" cy="1600200"/>
          </a:xfrm>
          <a:prstGeom prst="rect">
            <a:avLst/>
          </a:prstGeom>
          <a:solidFill>
            <a:srgbClr val="5B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56832" y="513892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233"/>
                </a:solidFill>
                <a:latin typeface="Trebuchet MS"/>
              </a:rPr>
              <a:t>Rapport signé sur 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586984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3"/>
                </a:solidFill>
                <a:latin typeface="Calibri"/>
              </a:rPr>
              <a:t>Saisie vocale + photo → analyse → rapport généré → DOCX → signature contradictoire.
Anonymisation RGPD en un clic. Export envoyé avant de quitter le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Impact &amp; scalabilité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97316"/>
                </a:solidFill>
                <a:latin typeface="Trebuchet MS"/>
              </a:rPr>
              <a:t>24 000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31136"/>
            <a:ext cx="3246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D2E0"/>
                </a:solidFill>
                <a:latin typeface="Calibri"/>
              </a:rPr>
              <a:t>économisées/an
chez BV France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11556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3A89E"/>
                </a:solidFill>
                <a:latin typeface="Trebuchet MS"/>
              </a:rPr>
              <a:t>15 ETP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31136"/>
            <a:ext cx="3246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D2E0"/>
                </a:solidFill>
                <a:latin typeface="Calibri"/>
              </a:rPr>
              <a:t>réaffectables
à des audits complexes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11556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81E2C"/>
                </a:solidFill>
                <a:latin typeface="Trebuchet MS"/>
              </a:rPr>
              <a:t>× 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31136"/>
            <a:ext cx="3246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D2E0"/>
                </a:solidFill>
                <a:latin typeface="Calibri"/>
              </a:rPr>
              <a:t>référentiels normatifs
sur la même plateforme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10744200" cy="8229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401568"/>
            <a:ext cx="10378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2E0"/>
                </a:solidFill>
                <a:latin typeface="Calibri"/>
              </a:rPr>
              <a:t>30 auditeurs BV  ×  200 audits RATP/an  ×  4 h économisées/audit  =  24 000 h/an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24528"/>
            <a:ext cx="5166360" cy="18288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224528"/>
            <a:ext cx="109728" cy="18288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334256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A89E"/>
                </a:solidFill>
                <a:latin typeface="Trebuchet MS"/>
              </a:rPr>
              <a:t>Extension immédiate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73168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ISO 14001 · ISO 45001 · EN 9100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15721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APAVE · SGS · TÜV — même besoin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54126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Zéro redéveloppement sur le core 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4224528"/>
            <a:ext cx="5367528" cy="18288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08192" y="4224528"/>
            <a:ext cx="109728" cy="182880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4334256"/>
            <a:ext cx="4910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A89E"/>
                </a:solidFill>
                <a:latin typeface="Trebuchet MS"/>
              </a:rPr>
              <a:t>Bureau Veritas aujourd'hui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773168"/>
            <a:ext cx="4910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150 référentiels actifs chez BV 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157216"/>
            <a:ext cx="4910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30 inspecteurs France scope RATP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5541264"/>
            <a:ext cx="49103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→  4 000 audits supplémentaires possibles/an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81360" y="4297680"/>
            <a:ext cx="3108960" cy="3108960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914400" cy="9144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Marc. Lundi 14h30.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98448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9D2E0"/>
                </a:solidFill>
                <a:latin typeface="Calibri"/>
              </a:rPr>
              <a:t>Rapport signé à 16h57.  3 agents Claude.  RAG sourcé à la norme.  24 000 heures libérées.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920240"/>
            <a:ext cx="868680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0" y="2103120"/>
            <a:ext cx="292608" cy="292608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21031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Saisie vocale + photo → analyse ISO en temps réel (Claude Sonnet 4.6)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633472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6334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RAG §4→§10 · checklist éditable · suggestions contextuelles · questions oui/non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163824"/>
            <a:ext cx="292608" cy="292608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316382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Récidives alertées · rapport signé sur place · anonymisation RGPD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694175"/>
            <a:ext cx="292608" cy="292608"/>
          </a:xfrm>
          <a:prstGeom prst="rect">
            <a:avLst/>
          </a:prstGeom>
          <a:solidFill>
            <a:srgbClr val="003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3694175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Bureau Veritas client · RATP client final · extensible à 150 référentiels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114800"/>
            <a:ext cx="10744200" cy="54864"/>
          </a:xfrm>
          <a:prstGeom prst="rect">
            <a:avLst/>
          </a:prstGeom>
          <a:solidFill>
            <a:srgbClr val="5B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rebuchet MS"/>
              </a:rPr>
              <a:t>Équipe Code Resonance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73168"/>
            <a:ext cx="3493008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773168"/>
            <a:ext cx="109728" cy="9144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8463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Habib KOFFI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19379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Agent IA · Claude API · 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0288" y="4773168"/>
            <a:ext cx="3493008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90288" y="4773168"/>
            <a:ext cx="109728" cy="9144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48463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Véronique POILANE ZHANG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19379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UI/UX · React · Vite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4773168"/>
            <a:ext cx="3493008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57616" y="4773168"/>
            <a:ext cx="109728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13648" y="4846320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Philippe GRAGNIC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5193792"/>
            <a:ext cx="3127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Data · Démo · Coordination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70448"/>
            <a:ext cx="10744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3A89E"/>
                </a:solidFill>
                <a:latin typeface="Trebuchet MS"/>
              </a:rPr>
              <a:t>Questions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f664ad-53f4-4543-9a6d-5ea7f3259423" xsi:nil="true"/>
    <lcf76f155ced4ddcb4097134ff3c332f xmlns="33a7dd9d-773a-4cb8-a3a4-6303cc6f9d4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41AB795F87949B16E6D1552C44F19" ma:contentTypeVersion="10" ma:contentTypeDescription="Create a new document." ma:contentTypeScope="" ma:versionID="8b883feb4b34e15fdaf2b469a0782ae1">
  <xsd:schema xmlns:xsd="http://www.w3.org/2001/XMLSchema" xmlns:xs="http://www.w3.org/2001/XMLSchema" xmlns:p="http://schemas.microsoft.com/office/2006/metadata/properties" xmlns:ns2="33a7dd9d-773a-4cb8-a3a4-6303cc6f9d48" xmlns:ns3="1af664ad-53f4-4543-9a6d-5ea7f3259423" targetNamespace="http://schemas.microsoft.com/office/2006/metadata/properties" ma:root="true" ma:fieldsID="b28e92020a24ac9d0a23700c467bed00" ns2:_="" ns3:_="">
    <xsd:import namespace="33a7dd9d-773a-4cb8-a3a4-6303cc6f9d48"/>
    <xsd:import namespace="1af664ad-53f4-4543-9a6d-5ea7f3259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7dd9d-773a-4cb8-a3a4-6303cc6f9d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f664ad-53f4-4543-9a6d-5ea7f325942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28d900-06fe-4f55-82d8-083c4b6ee767}" ma:internalName="TaxCatchAll" ma:showField="CatchAllData" ma:web="1af664ad-53f4-4543-9a6d-5ea7f32594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DBB44E-321C-4C89-9F38-CBBCC70B8AA5}">
  <ds:schemaRefs>
    <ds:schemaRef ds:uri="http://schemas.microsoft.com/office/2006/metadata/properties"/>
    <ds:schemaRef ds:uri="http://schemas.microsoft.com/office/infopath/2007/PartnerControls"/>
    <ds:schemaRef ds:uri="1af664ad-53f4-4543-9a6d-5ea7f3259423"/>
    <ds:schemaRef ds:uri="33a7dd9d-773a-4cb8-a3a4-6303cc6f9d48"/>
  </ds:schemaRefs>
</ds:datastoreItem>
</file>

<file path=customXml/itemProps2.xml><?xml version="1.0" encoding="utf-8"?>
<ds:datastoreItem xmlns:ds="http://schemas.openxmlformats.org/officeDocument/2006/customXml" ds:itemID="{6B0F42EA-A7A6-4022-A6A7-EBE1B10B9C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F5D59F-510B-44BC-B754-383C3FF63C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7dd9d-773a-4cb8-a3a4-6303cc6f9d48"/>
    <ds:schemaRef ds:uri="1af664ad-53f4-4543-9a6d-5ea7f3259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845</Words>
  <Application>Microsoft Office PowerPoint</Application>
  <PresentationFormat>Grand écran</PresentationFormat>
  <Paragraphs>134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Parcours Héros — Inspection Augmentée</dc:title>
  <dc:subject>PptxGenJS Presentation</dc:subject>
  <dc:creator>Code Resonance</dc:creator>
  <cp:lastModifiedBy>GRAGNIC, Philippe</cp:lastModifiedBy>
  <cp:revision>2</cp:revision>
  <dcterms:created xsi:type="dcterms:W3CDTF">2026-05-29T10:29:03Z</dcterms:created>
  <dcterms:modified xsi:type="dcterms:W3CDTF">2026-06-04T09:23:50Z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0x01010064F41AB795F87949B16E6D1552C44F19</vt:lpwstr>
  </property>
</Properties>
</file>