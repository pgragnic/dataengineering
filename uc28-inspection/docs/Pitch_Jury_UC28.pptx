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7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CA083-84BE-974A-8C6A-EDC2834E09A7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6AC81-D089-EF44-9790-95D0647D229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83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1463040"/>
            <a:ext cx="4754880" cy="47548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81360" y="4297680"/>
            <a:ext cx="3108960" cy="310896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914400" cy="91440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8229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A89E"/>
                </a:solidFill>
                <a:latin typeface="Trebuchet MS"/>
              </a:rPr>
              <a:t>HACKATHON CAPGEMINI × ANTHROPIC 2026  ·  ÉQUIPE CODE RESONANCE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17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D81E2C"/>
                </a:solidFill>
                <a:latin typeface="Trebuchet MS"/>
              </a:rPr>
              <a:t>90 %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803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FFFFFF"/>
                </a:solidFill>
                <a:latin typeface="Calibri"/>
              </a:rPr>
              <a:t>du temps des </a:t>
            </a:r>
            <a:r>
              <a:rPr sz="2400" b="0" i="0" dirty="0" err="1">
                <a:solidFill>
                  <a:srgbClr val="FFFFFF"/>
                </a:solidFill>
                <a:latin typeface="Calibri"/>
              </a:rPr>
              <a:t>auditeurs</a:t>
            </a:r>
            <a:r>
              <a:rPr sz="24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Calibri"/>
              </a:rPr>
              <a:t>qualité</a:t>
            </a:r>
            <a:r>
              <a:rPr sz="2400" b="0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consacré</a:t>
            </a:r>
            <a:r>
              <a:rPr sz="2400" b="0" i="0" dirty="0">
                <a:solidFill>
                  <a:srgbClr val="FFFFFF"/>
                </a:solidFill>
                <a:latin typeface="Calibri"/>
              </a:rPr>
              <a:t> à la </a:t>
            </a:r>
            <a:r>
              <a:rPr sz="2400" b="0" i="0" dirty="0" err="1">
                <a:solidFill>
                  <a:srgbClr val="FFFFFF"/>
                </a:solidFill>
                <a:latin typeface="Calibri"/>
              </a:rPr>
              <a:t>paperasse</a:t>
            </a:r>
            <a:r>
              <a:rPr sz="24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858768"/>
            <a:ext cx="8686800" cy="54864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40416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D2E0"/>
                </a:solidFill>
                <a:latin typeface="Trebuchet MS"/>
              </a:rPr>
              <a:t>On a inversé ce ratio.  →  L'Inspection Augmentée.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73659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4A6"/>
                </a:solidFill>
                <a:latin typeface="Calibri"/>
              </a:rPr>
              <a:t>Habib KOFFI  ·  Véronique POILANE ZHANG  ·  Philippe GRAGNIC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5285232"/>
            <a:ext cx="2011680" cy="4114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53218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3A89E"/>
                </a:solidFill>
                <a:latin typeface="Trebuchet MS"/>
              </a:rPr>
              <a:t>8 écrans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5285232"/>
            <a:ext cx="2011680" cy="4114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53218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3A89E"/>
                </a:solidFill>
                <a:latin typeface="Trebuchet MS"/>
              </a:rPr>
              <a:t>Claude Sonnet 4.6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7376" y="5285232"/>
            <a:ext cx="2011680" cy="4114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53218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3A89E"/>
                </a:solidFill>
                <a:latin typeface="Trebuchet MS"/>
              </a:rPr>
              <a:t>FastAPI + React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50224" y="5285232"/>
            <a:ext cx="2011680" cy="4114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95944" y="532180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3A89E"/>
                </a:solidFill>
                <a:latin typeface="Trebuchet MS"/>
              </a:rPr>
              <a:t>ISO 9001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3A89E"/>
                </a:solidFill>
                <a:latin typeface="Trebuchet MS"/>
              </a:rP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6577"/>
                </a:solidFill>
                <a:latin typeface="Calibri"/>
              </a:rPr>
              <a:t>Un expert terrain prisonnier de la paperasse.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611880" cy="47091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38528" y="1755648"/>
            <a:ext cx="914400" cy="91440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Marc Lefèvre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3A89E"/>
                </a:solidFill>
                <a:latin typeface="Trebuchet MS"/>
              </a:rPr>
              <a:t>Auditeur RATP · ISO 9001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23 ans de métier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Expert, peu à l'aise avec le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Veut plus de temps sur le terrain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023360"/>
            <a:ext cx="3456432" cy="1828800"/>
          </a:xfrm>
          <a:prstGeom prst="rect">
            <a:avLst/>
          </a:prstGeom>
          <a:solidFill>
            <a:srgbClr val="2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2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D81E2C"/>
                </a:solidFill>
                <a:latin typeface="Trebuchet MS"/>
              </a:rPr>
              <a:t>90 %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420624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2E0"/>
                </a:solidFill>
                <a:latin typeface="Calibri"/>
              </a:rPr>
              <a:t>paperasse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8A94A6"/>
                </a:solidFill>
                <a:latin typeface="Trebuchet MS"/>
              </a:rPr>
              <a:t>10 %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48463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6"/>
                </a:solidFill>
                <a:latin typeface="Calibri"/>
              </a:rPr>
              <a:t>terrain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371600"/>
            <a:ext cx="7132320" cy="141732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1371600"/>
            <a:ext cx="109728" cy="141732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1536192"/>
            <a:ext cx="6720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33"/>
                </a:solidFill>
                <a:latin typeface="Trebuchet MS"/>
              </a:rPr>
              <a:t>Soirées à rédiger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029967"/>
            <a:ext cx="6720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Chaque rapport = 2 à 3 h de rédaction manuelle après l'audit.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944368"/>
            <a:ext cx="7132320" cy="141732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2944368"/>
            <a:ext cx="109728" cy="141732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3108960"/>
            <a:ext cx="6720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33"/>
                </a:solidFill>
                <a:latin typeface="Trebuchet MS"/>
              </a:rPr>
              <a:t>Clauses cherchées de mémoire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602735"/>
            <a:ext cx="6720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ISO 9001 : 10 chapitres, 80+ exigences — impossible à mémoriser sur le terrain.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517136"/>
            <a:ext cx="7132320" cy="141732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4517136"/>
            <a:ext cx="109728" cy="141732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4681727"/>
            <a:ext cx="6720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33"/>
                </a:solidFill>
                <a:latin typeface="Trebuchet MS"/>
              </a:rPr>
              <a:t>Récidives non détectées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175503"/>
            <a:ext cx="6720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L'historique des NC passées est éparpillé dans des fichiers partagés.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080760"/>
            <a:ext cx="10927080" cy="475488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6080760"/>
            <a:ext cx="109728" cy="475488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Ce problème touche les 400 000 auditeurs ISO en France — pas seulement RATP.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3A89E"/>
                </a:solidFill>
                <a:latin typeface="Trebuchet MS"/>
              </a:rPr>
              <a:t>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6577"/>
                </a:solidFill>
                <a:latin typeface="Calibri"/>
              </a:rPr>
              <a:t>Une application qui augmente l'auditeur — sans le remplacer.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27080" cy="54864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27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B6577"/>
                </a:solidFill>
                <a:latin typeface="Calibri"/>
              </a:rPr>
              <a:t>Voix + photo  →  Claude Sonnet 4.6  →  NC détectée, sourcée, justifiée  →  Rapport signé sur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1600200" cy="13258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9728" cy="132588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233"/>
                </a:solidFill>
                <a:latin typeface="Trebuchet MS"/>
              </a:rPr>
              <a:t>Auditeur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577"/>
                </a:solidFill>
                <a:latin typeface="Calibri"/>
              </a:rPr>
              <a:t>Voix · Photo
Navigation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68" y="2724912"/>
            <a:ext cx="475488" cy="118872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96896" y="262432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  <a:latin typeface="Trebuchet MS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1965960"/>
            <a:ext cx="2240280" cy="1737360"/>
          </a:xfrm>
          <a:prstGeom prst="rect">
            <a:avLst/>
          </a:prstGeom>
          <a:solidFill>
            <a:srgbClr val="1F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61488" y="1965960"/>
            <a:ext cx="109728" cy="173736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44368" y="20574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A89E"/>
                </a:solidFill>
                <a:latin typeface="Trebuchet MS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423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React 18 + Vite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27432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Tailwind · Leaflet
Web Speech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724912"/>
            <a:ext cx="475488" cy="118872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8" y="262432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  <a:latin typeface="Trebuchet MS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1965960"/>
            <a:ext cx="2377440" cy="17373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32120" y="1965960"/>
            <a:ext cx="109728" cy="173736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205740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81E2C"/>
                </a:solidFill>
                <a:latin typeface="Trebuchet MS"/>
              </a:rPr>
              <a:t>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42316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FastAPI · Python 3.12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agent.py · rag.py
SQLite (historique)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36992" y="2724912"/>
            <a:ext cx="475488" cy="118872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262432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  <a:latin typeface="Trebuchet MS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9912" y="1965960"/>
            <a:ext cx="2743200" cy="1737360"/>
          </a:xfrm>
          <a:prstGeom prst="rect">
            <a:avLst/>
          </a:prstGeom>
          <a:solidFill>
            <a:srgbClr val="3A1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39912" y="1965960"/>
            <a:ext cx="109728" cy="17373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2792" y="2057400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Trebuchet MS"/>
              </a:rPr>
              <a:t>CLAUDE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2792" y="242316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Claude Sonnet 4.6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2792" y="274320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Analyse · Synthèse
Suggestions · Q oui/non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56832" y="3721608"/>
            <a:ext cx="118872" cy="50292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1605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  <a:latin typeface="Trebuchet MS"/>
              </a:rPr>
              <a:t>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4434840"/>
            <a:ext cx="2377440" cy="1417320"/>
          </a:xfrm>
          <a:prstGeom prst="rect">
            <a:avLst/>
          </a:prstGeom>
          <a:solidFill>
            <a:srgbClr val="0A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532120" y="4434840"/>
            <a:ext cx="109728" cy="141732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452628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A89E"/>
                </a:solidFill>
                <a:latin typeface="Trebuchet MS"/>
              </a:rPr>
              <a:t>RAG ISO 9001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48920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sentence-transformers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51937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Clauses §4 → §10 couvertes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39912" y="4434840"/>
            <a:ext cx="2743200" cy="141732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439912" y="4434840"/>
            <a:ext cx="109728" cy="1417320"/>
          </a:xfrm>
          <a:prstGeom prst="rect">
            <a:avLst/>
          </a:prstGeom>
          <a:solidFill>
            <a:srgbClr val="5B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22792" y="4526280"/>
            <a:ext cx="2423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4A6"/>
                </a:solidFill>
                <a:latin typeface="Trebuchet MS"/>
              </a:rPr>
              <a:t>SQLITE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4892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Historique audits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2792" y="519379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2E0"/>
                </a:solidFill>
                <a:latin typeface="Calibri"/>
              </a:rPr>
              <a:t>Alertes récidives
Planning sites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989320"/>
            <a:ext cx="10927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6577"/>
                </a:solidFill>
                <a:latin typeface="Calibri"/>
              </a:rPr>
              <a:t>Appels REST (JSON) entre les couches  ·  Prompt caching activé  ·  RAG préchargé au démarrage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1463040"/>
            <a:ext cx="4754880" cy="47548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457200" y="4389120"/>
            <a:ext cx="4114800" cy="4114800"/>
          </a:xfrm>
          <a:prstGeom prst="rect">
            <a:avLst/>
          </a:prstGeom>
          <a:solidFill>
            <a:srgbClr val="0A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Trebuchet MS"/>
              </a:rPr>
              <a:t>DÉMO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3A89E"/>
                </a:solidFill>
                <a:latin typeface="Trebuchet MS"/>
              </a:rPr>
              <a:t>localhost:5173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9D2E0"/>
                </a:solidFill>
                <a:latin typeface="Calibri"/>
              </a:rPr>
              <a:t>8 minutes · 8 écrans · un seul parcours — la journée de Marc Lefèvre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708403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530352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4A6"/>
                </a:solidFill>
                <a:latin typeface="Trebuchet MS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66928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2E0"/>
                </a:solidFill>
                <a:latin typeface="Calibri"/>
              </a:rPr>
              <a:t>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8212" y="5257800"/>
            <a:ext cx="1708403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31364" y="530352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4A6"/>
                </a:solidFill>
                <a:latin typeface="Trebuchet MS"/>
              </a:rPr>
              <a:t>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1364" y="566928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2E0"/>
                </a:solidFill>
                <a:latin typeface="Calibri"/>
              </a:rPr>
              <a:t>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6344" y="5257800"/>
            <a:ext cx="1708403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9496" y="530352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4A6"/>
                </a:solidFill>
                <a:latin typeface="Trebuchet M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9496" y="566928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2E0"/>
                </a:solidFill>
                <a:latin typeface="Calibri"/>
              </a:rPr>
              <a:t>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5257800"/>
            <a:ext cx="1708403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67628" y="530352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4A6"/>
                </a:solidFill>
                <a:latin typeface="Trebuchet M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7628" y="566928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2E0"/>
                </a:solidFill>
                <a:latin typeface="Calibri"/>
              </a:rPr>
              <a:t>Brief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12607" y="5257800"/>
            <a:ext cx="1708403" cy="91440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85759" y="530352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3/4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5759" y="566928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Inspection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0740" y="5257800"/>
            <a:ext cx="1708403" cy="91440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03892" y="530352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4A6"/>
                </a:solidFill>
                <a:latin typeface="Trebuchet M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3892" y="5669280"/>
            <a:ext cx="15621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2E0"/>
                </a:solidFill>
                <a:latin typeface="Calibri"/>
              </a:rPr>
              <a:t>Rapport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3A89E"/>
                </a:solidFill>
                <a:latin typeface="Trebuchet MS"/>
              </a:rPr>
              <a:t>Ce que Claude rend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6577"/>
                </a:solidFill>
                <a:latin typeface="Calibri"/>
              </a:rPr>
              <a:t>4 capacités IA — aucune ne serait aussi précise avec une règle fixe.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486400" cy="2148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" cy="214884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33"/>
                </a:solidFill>
                <a:latin typeface="Trebuchet MS"/>
              </a:rPr>
              <a:t>Analyse ISO en temps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5029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Observation dictée → clause détectée + criticité (MAJEURE / MINEURE / OBSERVATION) + score 0-3 + action corrective contextualisée.
Le contexte (site, historique, responsable) est dans chaque réponse.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486400" cy="2148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109728" cy="214884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33"/>
                </a:solidFill>
                <a:latin typeface="Trebuchet MS"/>
              </a:rPr>
              <a:t>Synthèse de l'observation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84832"/>
            <a:ext cx="5029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L'auditeur parle en langage terrain : "les clés sont pas étalonnées".
Claude reformule en langage d'audit nominal, précis et sourcé ISO 9001.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49039"/>
            <a:ext cx="5486400" cy="2148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109728" cy="2148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33"/>
                </a:solidFill>
                <a:latin typeface="Trebuchet MS"/>
              </a:rPr>
              <a:t>Suggestions contextuelles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029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À chaque item de checklist, Claude génère 3 exemples d'observations terrain adaptés au site, à la clause et à la section auditée.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49039"/>
            <a:ext cx="5486400" cy="21488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3749039"/>
            <a:ext cx="109728" cy="2148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233"/>
                </a:solidFill>
                <a:latin typeface="Trebuchet MS"/>
              </a:rPr>
              <a:t>Questions oui / 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462272"/>
            <a:ext cx="50292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3 questions de vérification binaires générées automatiquement.
L'auditeur répond d'un tap — réponses intégrées au rapport final.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080760"/>
            <a:ext cx="10927080" cy="475488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6080760"/>
            <a:ext cx="109728" cy="475488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6126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233"/>
                </a:solidFill>
                <a:latin typeface="Calibri"/>
              </a:rPr>
              <a:t>Prompt caching activé sur le system prompt → réduction du coût Claude de ~80 % sur appels répétés.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1463040"/>
            <a:ext cx="4754880" cy="47548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Trebuchet MS"/>
              </a:rPr>
              <a:t>Impact &amp; différenciants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3429000" cy="20116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81E2C"/>
                </a:solidFill>
                <a:latin typeface="Trebuchet MS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67712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9D2E0"/>
                </a:solidFill>
                <a:latin typeface="Calibri"/>
              </a:rPr>
              <a:t>soirée
de rédaction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051560"/>
            <a:ext cx="3429000" cy="20116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115568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13A89E"/>
                </a:solidFill>
                <a:latin typeface="Trebuchet MS"/>
              </a:rPr>
              <a:t>100 %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67712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9D2E0"/>
                </a:solidFill>
                <a:latin typeface="Calibri"/>
              </a:rPr>
              <a:t>des clauses
sourcées ISO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051560"/>
            <a:ext cx="3429000" cy="20116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115568"/>
            <a:ext cx="3246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97316"/>
                </a:solidFill>
                <a:latin typeface="Trebuchet MS"/>
              </a:rPr>
              <a:t>+ 80 %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67712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9D2E0"/>
                </a:solidFill>
                <a:latin typeface="Calibri"/>
              </a:rPr>
              <a:t>de temps
terrain récupéré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5257800" cy="26517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109728" cy="2651760"/>
          </a:xfrm>
          <a:prstGeom prst="rect">
            <a:avLst/>
          </a:prstGeom>
          <a:solidFill>
            <a:srgbClr val="5B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35584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A94A6"/>
                </a:solidFill>
                <a:latin typeface="Trebuchet MS"/>
              </a:rPr>
              <a:t>AVANT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8221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✗  Excel + classeurs papier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2793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✗  Clauses cherchées de mémoire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7365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✗  Rapport rédigé le soir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1937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✗  Récidives non détectées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246120"/>
            <a:ext cx="5257800" cy="265176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99632" y="3246120"/>
            <a:ext cx="109728" cy="265176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55664" y="335584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3A89E"/>
                </a:solidFill>
                <a:latin typeface="Trebuchet MS"/>
              </a:rPr>
              <a:t>MAINTENANT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822191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✓  IA contextuelle (Claude Sonnet 4.6)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2793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✓  RAG ISO 9001 (§4 à §10 couverts)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47365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✓  Rapport signé sur 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5193792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D2E0"/>
                </a:solidFill>
                <a:latin typeface="Calibri"/>
              </a:rPr>
              <a:t>✓  Récidives alertées en temps réel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92640" y="-1463040"/>
            <a:ext cx="4754880" cy="475488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881360" y="4297680"/>
            <a:ext cx="3108960" cy="310896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502920"/>
            <a:ext cx="914400" cy="91440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rebuchet MS"/>
              </a:rPr>
              <a:t>Équipe Code Resonance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20700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3A89E"/>
                </a:solidFill>
                <a:latin typeface="Calibri"/>
              </a:rPr>
              <a:t>Hackathon Capgemini × Anthropic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74519"/>
            <a:ext cx="3383280" cy="256032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2148840"/>
            <a:ext cx="914400" cy="914400"/>
          </a:xfrm>
          <a:prstGeom prst="rect">
            <a:avLst/>
          </a:prstGeom>
          <a:solidFill>
            <a:srgbClr val="D8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HK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821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Habib KOFFI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6"/>
                </a:solidFill>
                <a:latin typeface="Calibri"/>
              </a:rPr>
              <a:t>Agent IA
Claude API · FastAPI · 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874519"/>
            <a:ext cx="3383280" cy="256032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83479" y="2148840"/>
            <a:ext cx="914400" cy="91440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21945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1821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Véronique
POILANE ZHANG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6"/>
                </a:solidFill>
                <a:latin typeface="Calibri"/>
              </a:rPr>
              <a:t>UI/UX
React · Vite · Design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874519"/>
            <a:ext cx="3383280" cy="2560320"/>
          </a:xfrm>
          <a:prstGeom prst="rect">
            <a:avLst/>
          </a:prstGeom>
          <a:solidFill>
            <a:srgbClr val="1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19" y="2148840"/>
            <a:ext cx="914400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21945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31821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Philippe GRAGNIC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59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6"/>
                </a:solidFill>
                <a:latin typeface="Calibri"/>
              </a:rPr>
              <a:t>Data &amp; Démo
MockData · Pitch · Coordination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800600"/>
            <a:ext cx="10561320" cy="54864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9D2E0"/>
                </a:solidFill>
                <a:latin typeface="Calibri"/>
              </a:rPr>
              <a:t>Le ratio 90/10 est inversé.  Marc sort du site avec son rapport — pas avec une soirée de rédaction.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50992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rebuchet MS"/>
              </a:rPr>
              <a:t>Merci.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41AB795F87949B16E6D1552C44F19" ma:contentTypeVersion="10" ma:contentTypeDescription="Create a new document." ma:contentTypeScope="" ma:versionID="8b883feb4b34e15fdaf2b469a0782ae1">
  <xsd:schema xmlns:xsd="http://www.w3.org/2001/XMLSchema" xmlns:xs="http://www.w3.org/2001/XMLSchema" xmlns:p="http://schemas.microsoft.com/office/2006/metadata/properties" xmlns:ns2="33a7dd9d-773a-4cb8-a3a4-6303cc6f9d48" xmlns:ns3="1af664ad-53f4-4543-9a6d-5ea7f3259423" targetNamespace="http://schemas.microsoft.com/office/2006/metadata/properties" ma:root="true" ma:fieldsID="b28e92020a24ac9d0a23700c467bed00" ns2:_="" ns3:_="">
    <xsd:import namespace="33a7dd9d-773a-4cb8-a3a4-6303cc6f9d48"/>
    <xsd:import namespace="1af664ad-53f4-4543-9a6d-5ea7f32594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7dd9d-773a-4cb8-a3a4-6303cc6f9d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f664ad-53f4-4543-9a6d-5ea7f325942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c28d900-06fe-4f55-82d8-083c4b6ee767}" ma:internalName="TaxCatchAll" ma:showField="CatchAllData" ma:web="1af664ad-53f4-4543-9a6d-5ea7f32594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f664ad-53f4-4543-9a6d-5ea7f3259423" xsi:nil="true"/>
    <lcf76f155ced4ddcb4097134ff3c332f xmlns="33a7dd9d-773a-4cb8-a3a4-6303cc6f9d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CF5D59F-510B-44BC-B754-383C3FF63C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a7dd9d-773a-4cb8-a3a4-6303cc6f9d48"/>
    <ds:schemaRef ds:uri="1af664ad-53f4-4543-9a6d-5ea7f3259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B0F42EA-A7A6-4022-A6A7-EBE1B10B9C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DBB44E-321C-4C89-9F38-CBBCC70B8AA5}">
  <ds:schemaRefs>
    <ds:schemaRef ds:uri="http://schemas.microsoft.com/office/2006/metadata/properties"/>
    <ds:schemaRef ds:uri="http://schemas.microsoft.com/office/infopath/2007/PartnerControls"/>
    <ds:schemaRef ds:uri="1af664ad-53f4-4543-9a6d-5ea7f3259423"/>
    <ds:schemaRef ds:uri="33a7dd9d-773a-4cb8-a3a4-6303cc6f9d48"/>
  </ds:schemaRefs>
</ds:datastoreItem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Grand écran</PresentationFormat>
  <Paragraphs>116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Parcours Héros — Inspection Augmentée</dc:title>
  <dc:subject>PptxGenJS Presentation</dc:subject>
  <dc:creator>Code Resonance</dc:creator>
  <cp:lastModifiedBy>GRAGNIC, Philippe</cp:lastModifiedBy>
  <cp:revision>2</cp:revision>
  <dcterms:created xsi:type="dcterms:W3CDTF">2026-05-29T10:29:03Z</dcterms:created>
  <dcterms:modified xsi:type="dcterms:W3CDTF">2026-06-04T07:59:52Z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0x01010064F41AB795F87949B16E6D1552C44F19</vt:lpwstr>
  </property>
</Properties>
</file>